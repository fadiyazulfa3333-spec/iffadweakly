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Lst>
  <p:sldSz cx="18288000" cy="10287000"/>
  <p:notesSz cx="6858000" cy="9144000"/>
  <p:embeddedFontLst>
    <p:embeddedFont>
      <p:font typeface="League Spartan" charset="1" panose="00000800000000000000"/>
      <p:regular r:id="rId38"/>
    </p:embeddedFont>
    <p:embeddedFont>
      <p:font typeface="Poppins" charset="1" panose="00000500000000000000"/>
      <p:regular r:id="rId39"/>
    </p:embeddedFont>
    <p:embeddedFont>
      <p:font typeface="Poppins Italics" charset="1" panose="00000500000000000000"/>
      <p:regular r:id="rId40"/>
    </p:embeddedFont>
    <p:embeddedFont>
      <p:font typeface="Archivo Black" charset="1" panose="020B0A03020202020B04"/>
      <p:regular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7.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9.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jpe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jpe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4192085" y="3924400"/>
            <a:ext cx="9903830" cy="2325504"/>
          </a:xfrm>
          <a:prstGeom prst="rect">
            <a:avLst/>
          </a:prstGeom>
        </p:spPr>
        <p:txBody>
          <a:bodyPr anchor="t" rtlCol="false" tIns="0" lIns="0" bIns="0" rIns="0">
            <a:spAutoFit/>
          </a:bodyPr>
          <a:lstStyle/>
          <a:p>
            <a:pPr algn="ctr">
              <a:lnSpc>
                <a:spcPts val="9313"/>
              </a:lnSpc>
            </a:pPr>
            <a:r>
              <a:rPr lang="en-US" b="true" sz="6652">
                <a:solidFill>
                  <a:srgbClr val="004AAD"/>
                </a:solidFill>
                <a:latin typeface="League Spartan"/>
                <a:ea typeface="League Spartan"/>
                <a:cs typeface="League Spartan"/>
                <a:sym typeface="League Spartan"/>
              </a:rPr>
              <a:t>CSS, POSITIONING, DAN LAYOUTING</a:t>
            </a:r>
          </a:p>
        </p:txBody>
      </p:sp>
      <p:grpSp>
        <p:nvGrpSpPr>
          <p:cNvPr name="Group 4" id="4"/>
          <p:cNvGrpSpPr/>
          <p:nvPr/>
        </p:nvGrpSpPr>
        <p:grpSpPr>
          <a:xfrm rot="0">
            <a:off x="-1130300" y="4057750"/>
            <a:ext cx="3086100" cy="2171499"/>
            <a:chOff x="0" y="0"/>
            <a:chExt cx="812800" cy="571917"/>
          </a:xfrm>
        </p:grpSpPr>
        <p:sp>
          <p:nvSpPr>
            <p:cNvPr name="Freeform 5" id="5"/>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6" id="6"/>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
        <p:nvSpPr>
          <p:cNvPr name="TextBox 7" id="7"/>
          <p:cNvSpPr txBox="true"/>
          <p:nvPr/>
        </p:nvSpPr>
        <p:spPr>
          <a:xfrm rot="0">
            <a:off x="7742121" y="6477530"/>
            <a:ext cx="2803758" cy="791448"/>
          </a:xfrm>
          <a:prstGeom prst="rect">
            <a:avLst/>
          </a:prstGeom>
        </p:spPr>
        <p:txBody>
          <a:bodyPr anchor="t" rtlCol="false" tIns="0" lIns="0" bIns="0" rIns="0">
            <a:spAutoFit/>
          </a:bodyPr>
          <a:lstStyle/>
          <a:p>
            <a:pPr algn="ctr">
              <a:lnSpc>
                <a:spcPts val="3107"/>
              </a:lnSpc>
            </a:pPr>
            <a:r>
              <a:rPr lang="en-US" sz="2219">
                <a:solidFill>
                  <a:srgbClr val="303642"/>
                </a:solidFill>
                <a:latin typeface="Poppins"/>
                <a:ea typeface="Poppins"/>
                <a:cs typeface="Poppins"/>
                <a:sym typeface="Poppins"/>
              </a:rPr>
              <a:t>FADIYAH ZULFA</a:t>
            </a:r>
          </a:p>
          <a:p>
            <a:pPr algn="ctr">
              <a:lnSpc>
                <a:spcPts val="3107"/>
              </a:lnSpc>
              <a:spcBef>
                <a:spcPct val="0"/>
              </a:spcBef>
            </a:pPr>
            <a:r>
              <a:rPr lang="en-US" sz="2219">
                <a:solidFill>
                  <a:srgbClr val="303642"/>
                </a:solidFill>
                <a:latin typeface="Poppins"/>
                <a:ea typeface="Poppins"/>
                <a:cs typeface="Poppins"/>
                <a:sym typeface="Poppins"/>
              </a:rPr>
              <a:t>13182420024</a:t>
            </a:r>
          </a:p>
        </p:txBody>
      </p:sp>
      <p:grpSp>
        <p:nvGrpSpPr>
          <p:cNvPr name="Group 8" id="8"/>
          <p:cNvGrpSpPr/>
          <p:nvPr/>
        </p:nvGrpSpPr>
        <p:grpSpPr>
          <a:xfrm rot="0">
            <a:off x="16467343" y="4057750"/>
            <a:ext cx="3086100" cy="2171499"/>
            <a:chOff x="0" y="0"/>
            <a:chExt cx="812800" cy="571917"/>
          </a:xfrm>
        </p:grpSpPr>
        <p:sp>
          <p:nvSpPr>
            <p:cNvPr name="Freeform 9" id="9"/>
            <p:cNvSpPr/>
            <p:nvPr/>
          </p:nvSpPr>
          <p:spPr>
            <a:xfrm flipH="false" flipV="false" rot="0">
              <a:off x="0" y="0"/>
              <a:ext cx="812800" cy="571917"/>
            </a:xfrm>
            <a:custGeom>
              <a:avLst/>
              <a:gdLst/>
              <a:ahLst/>
              <a:cxnLst/>
              <a:rect r="r" b="b" t="t" l="l"/>
              <a:pathLst>
                <a:path h="571917" w="812800">
                  <a:moveTo>
                    <a:pt x="609600" y="0"/>
                  </a:moveTo>
                  <a:cubicBezTo>
                    <a:pt x="721824" y="0"/>
                    <a:pt x="812800" y="128028"/>
                    <a:pt x="812800" y="285959"/>
                  </a:cubicBezTo>
                  <a:cubicBezTo>
                    <a:pt x="812800" y="443889"/>
                    <a:pt x="721824" y="571917"/>
                    <a:pt x="609600" y="571917"/>
                  </a:cubicBezTo>
                  <a:lnTo>
                    <a:pt x="203200" y="571917"/>
                  </a:lnTo>
                  <a:cubicBezTo>
                    <a:pt x="90976" y="571917"/>
                    <a:pt x="0" y="443889"/>
                    <a:pt x="0" y="285959"/>
                  </a:cubicBezTo>
                  <a:cubicBezTo>
                    <a:pt x="0" y="128028"/>
                    <a:pt x="90976" y="0"/>
                    <a:pt x="203200" y="0"/>
                  </a:cubicBezTo>
                  <a:close/>
                </a:path>
              </a:pathLst>
            </a:custGeom>
            <a:solidFill>
              <a:srgbClr val="004AAD"/>
            </a:solidFill>
          </p:spPr>
        </p:sp>
        <p:sp>
          <p:nvSpPr>
            <p:cNvPr name="TextBox 10" id="10"/>
            <p:cNvSpPr txBox="true"/>
            <p:nvPr/>
          </p:nvSpPr>
          <p:spPr>
            <a:xfrm>
              <a:off x="0" y="-47625"/>
              <a:ext cx="812800" cy="619542"/>
            </a:xfrm>
            <a:prstGeom prst="rect">
              <a:avLst/>
            </a:prstGeom>
          </p:spPr>
          <p:txBody>
            <a:bodyPr anchor="ctr" rtlCol="false" tIns="50800" lIns="50800" bIns="50800" rIns="50800"/>
            <a:lstStyle/>
            <a:p>
              <a:pPr algn="ctr">
                <a:lnSpc>
                  <a:spcPts val="2659"/>
                </a:lnSpc>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491789" y="0"/>
            <a:ext cx="19271578" cy="10287000"/>
            <a:chOff x="0" y="0"/>
            <a:chExt cx="5075642" cy="2709333"/>
          </a:xfrm>
        </p:grpSpPr>
        <p:sp>
          <p:nvSpPr>
            <p:cNvPr name="Freeform 4" id="4"/>
            <p:cNvSpPr/>
            <p:nvPr/>
          </p:nvSpPr>
          <p:spPr>
            <a:xfrm flipH="false" flipV="false" rot="0">
              <a:off x="0" y="0"/>
              <a:ext cx="5075642" cy="2709333"/>
            </a:xfrm>
            <a:custGeom>
              <a:avLst/>
              <a:gdLst/>
              <a:ahLst/>
              <a:cxnLst/>
              <a:rect r="r" b="b" t="t" l="l"/>
              <a:pathLst>
                <a:path h="2709333" w="5075642">
                  <a:moveTo>
                    <a:pt x="0" y="0"/>
                  </a:moveTo>
                  <a:lnTo>
                    <a:pt x="5075642" y="0"/>
                  </a:lnTo>
                  <a:lnTo>
                    <a:pt x="5075642" y="2709333"/>
                  </a:lnTo>
                  <a:lnTo>
                    <a:pt x="0" y="2709333"/>
                  </a:lnTo>
                  <a:close/>
                </a:path>
              </a:pathLst>
            </a:custGeom>
            <a:solidFill>
              <a:srgbClr val="004AAD"/>
            </a:solidFill>
          </p:spPr>
        </p:sp>
        <p:sp>
          <p:nvSpPr>
            <p:cNvPr name="TextBox 5" id="5"/>
            <p:cNvSpPr txBox="true"/>
            <p:nvPr/>
          </p:nvSpPr>
          <p:spPr>
            <a:xfrm>
              <a:off x="0" y="-47625"/>
              <a:ext cx="5075642" cy="2756958"/>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757520" y="1528216"/>
            <a:ext cx="12772959" cy="855023"/>
          </a:xfrm>
          <a:prstGeom prst="rect">
            <a:avLst/>
          </a:prstGeom>
        </p:spPr>
        <p:txBody>
          <a:bodyPr anchor="t" rtlCol="false" tIns="0" lIns="0" bIns="0" rIns="0">
            <a:spAutoFit/>
          </a:bodyPr>
          <a:lstStyle/>
          <a:p>
            <a:pPr algn="l">
              <a:lnSpc>
                <a:spcPts val="7063"/>
              </a:lnSpc>
            </a:pPr>
            <a:r>
              <a:rPr lang="en-US" sz="5045">
                <a:solidFill>
                  <a:srgbClr val="FFFFFF"/>
                </a:solidFill>
                <a:latin typeface="League Spartan"/>
                <a:ea typeface="League Spartan"/>
                <a:cs typeface="League Spartan"/>
                <a:sym typeface="League Spartan"/>
              </a:rPr>
              <a:t>CSS, POSITIONING, DAN LAYOUTING</a:t>
            </a:r>
          </a:p>
        </p:txBody>
      </p:sp>
      <p:sp>
        <p:nvSpPr>
          <p:cNvPr name="TextBox 7" id="7"/>
          <p:cNvSpPr txBox="true"/>
          <p:nvPr/>
        </p:nvSpPr>
        <p:spPr>
          <a:xfrm rot="0">
            <a:off x="1028700" y="3235821"/>
            <a:ext cx="15628345" cy="5442700"/>
          </a:xfrm>
          <a:prstGeom prst="rect">
            <a:avLst/>
          </a:prstGeom>
        </p:spPr>
        <p:txBody>
          <a:bodyPr anchor="t" rtlCol="false" tIns="0" lIns="0" bIns="0" rIns="0">
            <a:spAutoFit/>
          </a:bodyPr>
          <a:lstStyle/>
          <a:p>
            <a:pPr algn="ctr">
              <a:lnSpc>
                <a:spcPts val="6167"/>
              </a:lnSpc>
              <a:spcBef>
                <a:spcPct val="0"/>
              </a:spcBef>
            </a:pPr>
            <a:r>
              <a:rPr lang="en-US" sz="4405">
                <a:solidFill>
                  <a:srgbClr val="FFFFFF"/>
                </a:solidFill>
                <a:latin typeface="Poppins"/>
                <a:ea typeface="Poppins"/>
                <a:cs typeface="Poppins"/>
                <a:sym typeface="Poppins"/>
              </a:rPr>
              <a:t>CSS, Positioning, dan Layouting adalah tiga konsep utama dalam pengembangan website modern. CSS digunakan untuk mengatur tampilan visual, positioning digunakan untuk mengatur letak elemen secara spesifik, dan layouting digunakan untuk menyusun struktur halaman agar rapi, teratur, dan mudah digunakan oleh pengguna.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60313" y="2608904"/>
            <a:ext cx="15967374" cy="6649396"/>
            <a:chOff x="0" y="0"/>
            <a:chExt cx="4205399" cy="1751281"/>
          </a:xfrm>
        </p:grpSpPr>
        <p:sp>
          <p:nvSpPr>
            <p:cNvPr name="Freeform 4" id="4"/>
            <p:cNvSpPr/>
            <p:nvPr/>
          </p:nvSpPr>
          <p:spPr>
            <a:xfrm flipH="false" flipV="false" rot="0">
              <a:off x="0" y="0"/>
              <a:ext cx="4205399" cy="1751281"/>
            </a:xfrm>
            <a:custGeom>
              <a:avLst/>
              <a:gdLst/>
              <a:ahLst/>
              <a:cxnLst/>
              <a:rect r="r" b="b" t="t" l="l"/>
              <a:pathLst>
                <a:path h="1751281" w="4205399">
                  <a:moveTo>
                    <a:pt x="24728" y="0"/>
                  </a:moveTo>
                  <a:lnTo>
                    <a:pt x="4180671" y="0"/>
                  </a:lnTo>
                  <a:cubicBezTo>
                    <a:pt x="4194328" y="0"/>
                    <a:pt x="4205399" y="11071"/>
                    <a:pt x="4205399" y="24728"/>
                  </a:cubicBezTo>
                  <a:lnTo>
                    <a:pt x="4205399" y="1726554"/>
                  </a:lnTo>
                  <a:cubicBezTo>
                    <a:pt x="4205399" y="1733112"/>
                    <a:pt x="4202793" y="1739401"/>
                    <a:pt x="4198156" y="1744039"/>
                  </a:cubicBezTo>
                  <a:cubicBezTo>
                    <a:pt x="4193519" y="1748676"/>
                    <a:pt x="4187229" y="1751281"/>
                    <a:pt x="4180671" y="1751281"/>
                  </a:cubicBezTo>
                  <a:lnTo>
                    <a:pt x="24728" y="1751281"/>
                  </a:lnTo>
                  <a:cubicBezTo>
                    <a:pt x="18170" y="1751281"/>
                    <a:pt x="11880" y="1748676"/>
                    <a:pt x="7243" y="1744039"/>
                  </a:cubicBezTo>
                  <a:cubicBezTo>
                    <a:pt x="2605" y="1739401"/>
                    <a:pt x="0" y="1733112"/>
                    <a:pt x="0" y="1726554"/>
                  </a:cubicBezTo>
                  <a:lnTo>
                    <a:pt x="0" y="24728"/>
                  </a:lnTo>
                  <a:cubicBezTo>
                    <a:pt x="0" y="18170"/>
                    <a:pt x="2605" y="11880"/>
                    <a:pt x="7243" y="7243"/>
                  </a:cubicBezTo>
                  <a:cubicBezTo>
                    <a:pt x="11880" y="2605"/>
                    <a:pt x="18170" y="0"/>
                    <a:pt x="24728" y="0"/>
                  </a:cubicBezTo>
                  <a:close/>
                </a:path>
              </a:pathLst>
            </a:custGeom>
            <a:solidFill>
              <a:srgbClr val="004AAD"/>
            </a:solidFill>
          </p:spPr>
        </p:sp>
        <p:sp>
          <p:nvSpPr>
            <p:cNvPr name="TextBox 5" id="5"/>
            <p:cNvSpPr txBox="true"/>
            <p:nvPr/>
          </p:nvSpPr>
          <p:spPr>
            <a:xfrm>
              <a:off x="0" y="-47625"/>
              <a:ext cx="4205399" cy="1798906"/>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7645567" y="885825"/>
            <a:ext cx="2996865" cy="1320360"/>
          </a:xfrm>
          <a:prstGeom prst="rect">
            <a:avLst/>
          </a:prstGeom>
        </p:spPr>
        <p:txBody>
          <a:bodyPr anchor="t" rtlCol="false" tIns="0" lIns="0" bIns="0" rIns="0">
            <a:spAutoFit/>
          </a:bodyPr>
          <a:lstStyle/>
          <a:p>
            <a:pPr algn="ctr">
              <a:lnSpc>
                <a:spcPts val="10841"/>
              </a:lnSpc>
            </a:pPr>
            <a:r>
              <a:rPr lang="en-US" sz="7743">
                <a:solidFill>
                  <a:srgbClr val="004AAD"/>
                </a:solidFill>
                <a:latin typeface="League Spartan"/>
                <a:ea typeface="League Spartan"/>
                <a:cs typeface="League Spartan"/>
                <a:sym typeface="League Spartan"/>
              </a:rPr>
              <a:t>CSS</a:t>
            </a:r>
          </a:p>
        </p:txBody>
      </p:sp>
      <p:sp>
        <p:nvSpPr>
          <p:cNvPr name="TextBox 7" id="7"/>
          <p:cNvSpPr txBox="true"/>
          <p:nvPr/>
        </p:nvSpPr>
        <p:spPr>
          <a:xfrm rot="0">
            <a:off x="2077832" y="3284131"/>
            <a:ext cx="14132337" cy="5208172"/>
          </a:xfrm>
          <a:prstGeom prst="rect">
            <a:avLst/>
          </a:prstGeom>
        </p:spPr>
        <p:txBody>
          <a:bodyPr anchor="t" rtlCol="false" tIns="0" lIns="0" bIns="0" rIns="0">
            <a:spAutoFit/>
          </a:bodyPr>
          <a:lstStyle/>
          <a:p>
            <a:pPr algn="ctr">
              <a:lnSpc>
                <a:spcPts val="5885"/>
              </a:lnSpc>
              <a:spcBef>
                <a:spcPct val="0"/>
              </a:spcBef>
            </a:pPr>
            <a:r>
              <a:rPr lang="en-US" sz="4203">
                <a:solidFill>
                  <a:srgbClr val="E5E5E5"/>
                </a:solidFill>
                <a:latin typeface="Poppins"/>
                <a:ea typeface="Poppins"/>
                <a:cs typeface="Poppins"/>
                <a:sym typeface="Poppins"/>
              </a:rPr>
              <a:t>CSS (Cascading Styl</a:t>
            </a:r>
            <a:r>
              <a:rPr lang="en-US" sz="4203">
                <a:solidFill>
                  <a:srgbClr val="E5E5E5"/>
                </a:solidFill>
                <a:latin typeface="Poppins"/>
                <a:ea typeface="Poppins"/>
                <a:cs typeface="Poppins"/>
                <a:sym typeface="Poppins"/>
              </a:rPr>
              <a:t>e Sheets) adalah bahasa yang digunakan untuk mengatur tampilan dari elemen HTML pada sebuah website. HTML berfungsi sebagai struktur, sedangkan CSS bertugas memberikan gaya seperti warna, ukuran, jarak, dan tata letak sehingga halaman web terlihat lebih menarik dan profesional.</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19271578" cy="10287000"/>
            <a:chOff x="0" y="0"/>
            <a:chExt cx="5075642" cy="2709333"/>
          </a:xfrm>
        </p:grpSpPr>
        <p:sp>
          <p:nvSpPr>
            <p:cNvPr name="Freeform 4" id="4"/>
            <p:cNvSpPr/>
            <p:nvPr/>
          </p:nvSpPr>
          <p:spPr>
            <a:xfrm flipH="false" flipV="false" rot="0">
              <a:off x="0" y="0"/>
              <a:ext cx="5075642" cy="2709333"/>
            </a:xfrm>
            <a:custGeom>
              <a:avLst/>
              <a:gdLst/>
              <a:ahLst/>
              <a:cxnLst/>
              <a:rect r="r" b="b" t="t" l="l"/>
              <a:pathLst>
                <a:path h="2709333" w="5075642">
                  <a:moveTo>
                    <a:pt x="0" y="0"/>
                  </a:moveTo>
                  <a:lnTo>
                    <a:pt x="5075642" y="0"/>
                  </a:lnTo>
                  <a:lnTo>
                    <a:pt x="5075642" y="2709333"/>
                  </a:lnTo>
                  <a:lnTo>
                    <a:pt x="0" y="2709333"/>
                  </a:lnTo>
                  <a:close/>
                </a:path>
              </a:pathLst>
            </a:custGeom>
            <a:solidFill>
              <a:srgbClr val="004AAD"/>
            </a:solidFill>
          </p:spPr>
        </p:sp>
        <p:sp>
          <p:nvSpPr>
            <p:cNvPr name="TextBox 5" id="5"/>
            <p:cNvSpPr txBox="true"/>
            <p:nvPr/>
          </p:nvSpPr>
          <p:spPr>
            <a:xfrm>
              <a:off x="0" y="-47625"/>
              <a:ext cx="5075642" cy="2756958"/>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7039064" y="1404787"/>
            <a:ext cx="4209872" cy="855023"/>
          </a:xfrm>
          <a:prstGeom prst="rect">
            <a:avLst/>
          </a:prstGeom>
        </p:spPr>
        <p:txBody>
          <a:bodyPr anchor="t" rtlCol="false" tIns="0" lIns="0" bIns="0" rIns="0">
            <a:spAutoFit/>
          </a:bodyPr>
          <a:lstStyle/>
          <a:p>
            <a:pPr algn="l">
              <a:lnSpc>
                <a:spcPts val="7063"/>
              </a:lnSpc>
            </a:pPr>
            <a:r>
              <a:rPr lang="en-US" sz="5045">
                <a:solidFill>
                  <a:srgbClr val="FFFFFF"/>
                </a:solidFill>
                <a:latin typeface="League Spartan"/>
                <a:ea typeface="League Spartan"/>
                <a:cs typeface="League Spartan"/>
                <a:sym typeface="League Spartan"/>
              </a:rPr>
              <a:t>FUNGSI CSS</a:t>
            </a:r>
          </a:p>
        </p:txBody>
      </p:sp>
      <p:sp>
        <p:nvSpPr>
          <p:cNvPr name="TextBox 7" id="7"/>
          <p:cNvSpPr txBox="true"/>
          <p:nvPr/>
        </p:nvSpPr>
        <p:spPr>
          <a:xfrm rot="0">
            <a:off x="1028700" y="2997964"/>
            <a:ext cx="15628345" cy="6260336"/>
          </a:xfrm>
          <a:prstGeom prst="rect">
            <a:avLst/>
          </a:prstGeom>
        </p:spPr>
        <p:txBody>
          <a:bodyPr anchor="t" rtlCol="false" tIns="0" lIns="0" bIns="0" rIns="0">
            <a:spAutoFit/>
          </a:bodyPr>
          <a:lstStyle/>
          <a:p>
            <a:pPr algn="just">
              <a:lnSpc>
                <a:spcPts val="6167"/>
              </a:lnSpc>
            </a:pPr>
            <a:r>
              <a:rPr lang="en-US" sz="4405">
                <a:solidFill>
                  <a:srgbClr val="FFFFFF"/>
                </a:solidFill>
                <a:latin typeface="Poppins"/>
                <a:ea typeface="Poppins"/>
                <a:cs typeface="Poppins"/>
                <a:sym typeface="Poppins"/>
              </a:rPr>
              <a:t>CSS memiliki banyak fungsi penting dalam web development.</a:t>
            </a:r>
          </a:p>
          <a:p>
            <a:pPr algn="just">
              <a:lnSpc>
                <a:spcPts val="6167"/>
              </a:lnSpc>
            </a:pPr>
            <a:r>
              <a:rPr lang="en-US" sz="4405">
                <a:solidFill>
                  <a:srgbClr val="FFFFFF"/>
                </a:solidFill>
                <a:latin typeface="Poppins"/>
                <a:ea typeface="Poppins"/>
                <a:cs typeface="Poppins"/>
                <a:sym typeface="Poppins"/>
              </a:rPr>
              <a:t>Fungsi CSS:</a:t>
            </a:r>
          </a:p>
          <a:p>
            <a:pPr algn="just" marL="951057" indent="-475528" lvl="1">
              <a:lnSpc>
                <a:spcPts val="6167"/>
              </a:lnSpc>
              <a:buFont typeface="Arial"/>
              <a:buChar char="•"/>
            </a:pPr>
            <a:r>
              <a:rPr lang="en-US" sz="4405">
                <a:solidFill>
                  <a:srgbClr val="FFFFFF"/>
                </a:solidFill>
                <a:latin typeface="Poppins"/>
                <a:ea typeface="Poppins"/>
                <a:cs typeface="Poppins"/>
                <a:sym typeface="Poppins"/>
              </a:rPr>
              <a:t>Mengatur warna teks dan background</a:t>
            </a:r>
          </a:p>
          <a:p>
            <a:pPr algn="just" marL="951057" indent="-475528" lvl="1">
              <a:lnSpc>
                <a:spcPts val="6167"/>
              </a:lnSpc>
              <a:buFont typeface="Arial"/>
              <a:buChar char="•"/>
            </a:pPr>
            <a:r>
              <a:rPr lang="en-US" sz="4405">
                <a:solidFill>
                  <a:srgbClr val="FFFFFF"/>
                </a:solidFill>
                <a:latin typeface="Poppins"/>
                <a:ea typeface="Poppins"/>
                <a:cs typeface="Poppins"/>
                <a:sym typeface="Poppins"/>
              </a:rPr>
              <a:t>Mengatur ukuran dan jenis font</a:t>
            </a:r>
          </a:p>
          <a:p>
            <a:pPr algn="just" marL="951057" indent="-475528" lvl="1">
              <a:lnSpc>
                <a:spcPts val="6167"/>
              </a:lnSpc>
              <a:buFont typeface="Arial"/>
              <a:buChar char="•"/>
            </a:pPr>
            <a:r>
              <a:rPr lang="en-US" sz="4405">
                <a:solidFill>
                  <a:srgbClr val="FFFFFF"/>
                </a:solidFill>
                <a:latin typeface="Poppins"/>
                <a:ea typeface="Poppins"/>
                <a:cs typeface="Poppins"/>
                <a:sym typeface="Poppins"/>
              </a:rPr>
              <a:t>Mengatur jarak antar elemen</a:t>
            </a:r>
          </a:p>
          <a:p>
            <a:pPr algn="just" marL="951057" indent="-475528" lvl="1">
              <a:lnSpc>
                <a:spcPts val="6167"/>
              </a:lnSpc>
              <a:buFont typeface="Arial"/>
              <a:buChar char="•"/>
            </a:pPr>
            <a:r>
              <a:rPr lang="en-US" sz="4405">
                <a:solidFill>
                  <a:srgbClr val="FFFFFF"/>
                </a:solidFill>
                <a:latin typeface="Poppins"/>
                <a:ea typeface="Poppins"/>
                <a:cs typeface="Poppins"/>
                <a:sym typeface="Poppins"/>
              </a:rPr>
              <a:t>Membuat layout halaman</a:t>
            </a:r>
          </a:p>
          <a:p>
            <a:pPr algn="just" marL="951057" indent="-475528" lvl="1">
              <a:lnSpc>
                <a:spcPts val="6167"/>
              </a:lnSpc>
              <a:spcBef>
                <a:spcPct val="0"/>
              </a:spcBef>
              <a:buFont typeface="Arial"/>
              <a:buChar char="•"/>
            </a:pPr>
            <a:r>
              <a:rPr lang="en-US" sz="4405">
                <a:solidFill>
                  <a:srgbClr val="FFFFFF"/>
                </a:solidFill>
                <a:latin typeface="Poppins"/>
                <a:ea typeface="Poppins"/>
                <a:cs typeface="Poppins"/>
                <a:sym typeface="Poppins"/>
              </a:rPr>
              <a:t>Membuat tampilan responsif</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60313" y="2608904"/>
            <a:ext cx="15967374" cy="6649396"/>
            <a:chOff x="0" y="0"/>
            <a:chExt cx="4205399" cy="1751281"/>
          </a:xfrm>
        </p:grpSpPr>
        <p:sp>
          <p:nvSpPr>
            <p:cNvPr name="Freeform 4" id="4"/>
            <p:cNvSpPr/>
            <p:nvPr/>
          </p:nvSpPr>
          <p:spPr>
            <a:xfrm flipH="false" flipV="false" rot="0">
              <a:off x="0" y="0"/>
              <a:ext cx="4205399" cy="1751281"/>
            </a:xfrm>
            <a:custGeom>
              <a:avLst/>
              <a:gdLst/>
              <a:ahLst/>
              <a:cxnLst/>
              <a:rect r="r" b="b" t="t" l="l"/>
              <a:pathLst>
                <a:path h="1751281" w="4205399">
                  <a:moveTo>
                    <a:pt x="24728" y="0"/>
                  </a:moveTo>
                  <a:lnTo>
                    <a:pt x="4180671" y="0"/>
                  </a:lnTo>
                  <a:cubicBezTo>
                    <a:pt x="4194328" y="0"/>
                    <a:pt x="4205399" y="11071"/>
                    <a:pt x="4205399" y="24728"/>
                  </a:cubicBezTo>
                  <a:lnTo>
                    <a:pt x="4205399" y="1726554"/>
                  </a:lnTo>
                  <a:cubicBezTo>
                    <a:pt x="4205399" y="1733112"/>
                    <a:pt x="4202793" y="1739401"/>
                    <a:pt x="4198156" y="1744039"/>
                  </a:cubicBezTo>
                  <a:cubicBezTo>
                    <a:pt x="4193519" y="1748676"/>
                    <a:pt x="4187229" y="1751281"/>
                    <a:pt x="4180671" y="1751281"/>
                  </a:cubicBezTo>
                  <a:lnTo>
                    <a:pt x="24728" y="1751281"/>
                  </a:lnTo>
                  <a:cubicBezTo>
                    <a:pt x="18170" y="1751281"/>
                    <a:pt x="11880" y="1748676"/>
                    <a:pt x="7243" y="1744039"/>
                  </a:cubicBezTo>
                  <a:cubicBezTo>
                    <a:pt x="2605" y="1739401"/>
                    <a:pt x="0" y="1733112"/>
                    <a:pt x="0" y="1726554"/>
                  </a:cubicBezTo>
                  <a:lnTo>
                    <a:pt x="0" y="24728"/>
                  </a:lnTo>
                  <a:cubicBezTo>
                    <a:pt x="0" y="18170"/>
                    <a:pt x="2605" y="11880"/>
                    <a:pt x="7243" y="7243"/>
                  </a:cubicBezTo>
                  <a:cubicBezTo>
                    <a:pt x="11880" y="2605"/>
                    <a:pt x="18170" y="0"/>
                    <a:pt x="24728" y="0"/>
                  </a:cubicBezTo>
                  <a:close/>
                </a:path>
              </a:pathLst>
            </a:custGeom>
            <a:solidFill>
              <a:srgbClr val="004AAD"/>
            </a:solidFill>
          </p:spPr>
        </p:sp>
        <p:sp>
          <p:nvSpPr>
            <p:cNvPr name="TextBox 5" id="5"/>
            <p:cNvSpPr txBox="true"/>
            <p:nvPr/>
          </p:nvSpPr>
          <p:spPr>
            <a:xfrm>
              <a:off x="0" y="-47625"/>
              <a:ext cx="4205399" cy="1798906"/>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3702015" y="923925"/>
            <a:ext cx="10883969" cy="944960"/>
          </a:xfrm>
          <a:prstGeom prst="rect">
            <a:avLst/>
          </a:prstGeom>
        </p:spPr>
        <p:txBody>
          <a:bodyPr anchor="t" rtlCol="false" tIns="0" lIns="0" bIns="0" rIns="0">
            <a:spAutoFit/>
          </a:bodyPr>
          <a:lstStyle/>
          <a:p>
            <a:pPr algn="ctr">
              <a:lnSpc>
                <a:spcPts val="7735"/>
              </a:lnSpc>
            </a:pPr>
            <a:r>
              <a:rPr lang="en-US" sz="5525">
                <a:solidFill>
                  <a:srgbClr val="004AAD"/>
                </a:solidFill>
                <a:latin typeface="League Spartan"/>
                <a:ea typeface="League Spartan"/>
                <a:cs typeface="League Spartan"/>
                <a:sym typeface="League Spartan"/>
              </a:rPr>
              <a:t>CARA MENGGUNAKAN CSS</a:t>
            </a:r>
          </a:p>
        </p:txBody>
      </p:sp>
      <p:sp>
        <p:nvSpPr>
          <p:cNvPr name="TextBox 7" id="7"/>
          <p:cNvSpPr txBox="true"/>
          <p:nvPr/>
        </p:nvSpPr>
        <p:spPr>
          <a:xfrm rot="0">
            <a:off x="2532274" y="3114209"/>
            <a:ext cx="12570078" cy="5501497"/>
          </a:xfrm>
          <a:prstGeom prst="rect">
            <a:avLst/>
          </a:prstGeom>
        </p:spPr>
        <p:txBody>
          <a:bodyPr anchor="t" rtlCol="false" tIns="0" lIns="0" bIns="0" rIns="0">
            <a:spAutoFit/>
          </a:bodyPr>
          <a:lstStyle/>
          <a:p>
            <a:pPr algn="just">
              <a:lnSpc>
                <a:spcPts val="5467"/>
              </a:lnSpc>
            </a:pPr>
            <a:r>
              <a:rPr lang="en-US" sz="3905">
                <a:solidFill>
                  <a:srgbClr val="E5E5E5"/>
                </a:solidFill>
                <a:latin typeface="Poppins"/>
                <a:ea typeface="Poppins"/>
                <a:cs typeface="Poppins"/>
                <a:sym typeface="Poppins"/>
              </a:rPr>
              <a:t>CSS dapat diterapkan d</a:t>
            </a:r>
            <a:r>
              <a:rPr lang="en-US" sz="3905">
                <a:solidFill>
                  <a:srgbClr val="E5E5E5"/>
                </a:solidFill>
                <a:latin typeface="Poppins"/>
                <a:ea typeface="Poppins"/>
                <a:cs typeface="Poppins"/>
                <a:sym typeface="Poppins"/>
              </a:rPr>
              <a:t>engan beberapa cara sesuai kebutuhan.</a:t>
            </a:r>
          </a:p>
          <a:p>
            <a:pPr algn="just">
              <a:lnSpc>
                <a:spcPts val="5467"/>
              </a:lnSpc>
            </a:pPr>
            <a:r>
              <a:rPr lang="en-US" sz="3905">
                <a:solidFill>
                  <a:srgbClr val="E5E5E5"/>
                </a:solidFill>
                <a:latin typeface="Poppins"/>
                <a:ea typeface="Poppins"/>
                <a:cs typeface="Poppins"/>
                <a:sym typeface="Poppins"/>
              </a:rPr>
              <a:t>Jenis penggunaan:</a:t>
            </a:r>
          </a:p>
          <a:p>
            <a:pPr algn="just" marL="843228" indent="-421614" lvl="1">
              <a:lnSpc>
                <a:spcPts val="5467"/>
              </a:lnSpc>
              <a:buFont typeface="Arial"/>
              <a:buChar char="•"/>
            </a:pPr>
            <a:r>
              <a:rPr lang="en-US" sz="3905">
                <a:solidFill>
                  <a:srgbClr val="E5E5E5"/>
                </a:solidFill>
                <a:latin typeface="Poppins"/>
                <a:ea typeface="Poppins"/>
                <a:cs typeface="Poppins"/>
                <a:sym typeface="Poppins"/>
              </a:rPr>
              <a:t>Inline CSS (langsung di HTML)</a:t>
            </a:r>
          </a:p>
          <a:p>
            <a:pPr algn="just" marL="843228" indent="-421614" lvl="1">
              <a:lnSpc>
                <a:spcPts val="5467"/>
              </a:lnSpc>
              <a:buFont typeface="Arial"/>
              <a:buChar char="•"/>
            </a:pPr>
            <a:r>
              <a:rPr lang="en-US" sz="3905">
                <a:solidFill>
                  <a:srgbClr val="E5E5E5"/>
                </a:solidFill>
                <a:latin typeface="Poppins"/>
                <a:ea typeface="Poppins"/>
                <a:cs typeface="Poppins"/>
                <a:sym typeface="Poppins"/>
              </a:rPr>
              <a:t>Internal CSS (dalam file HTML)</a:t>
            </a:r>
          </a:p>
          <a:p>
            <a:pPr algn="just" marL="843228" indent="-421614" lvl="1">
              <a:lnSpc>
                <a:spcPts val="5467"/>
              </a:lnSpc>
              <a:buFont typeface="Arial"/>
              <a:buChar char="•"/>
            </a:pPr>
            <a:r>
              <a:rPr lang="en-US" sz="3905">
                <a:solidFill>
                  <a:srgbClr val="E5E5E5"/>
                </a:solidFill>
                <a:latin typeface="Poppins"/>
                <a:ea typeface="Poppins"/>
                <a:cs typeface="Poppins"/>
                <a:sym typeface="Poppins"/>
              </a:rPr>
              <a:t>External CSS (file terpisah)</a:t>
            </a:r>
          </a:p>
          <a:p>
            <a:pPr algn="just">
              <a:lnSpc>
                <a:spcPts val="5467"/>
              </a:lnSpc>
              <a:spcBef>
                <a:spcPct val="0"/>
              </a:spcBef>
            </a:pPr>
            <a:r>
              <a:rPr lang="en-US" sz="3905">
                <a:solidFill>
                  <a:srgbClr val="E5E5E5"/>
                </a:solidFill>
                <a:latin typeface="Poppins"/>
                <a:ea typeface="Poppins"/>
                <a:cs typeface="Poppins"/>
                <a:sym typeface="Poppins"/>
              </a:rPr>
              <a:t>External CSS paling sering digunakan karena lebih rapi dan mudah dikelola.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491789" y="0"/>
            <a:ext cx="19271578" cy="10287000"/>
            <a:chOff x="0" y="0"/>
            <a:chExt cx="5075642" cy="2709333"/>
          </a:xfrm>
        </p:grpSpPr>
        <p:sp>
          <p:nvSpPr>
            <p:cNvPr name="Freeform 4" id="4"/>
            <p:cNvSpPr/>
            <p:nvPr/>
          </p:nvSpPr>
          <p:spPr>
            <a:xfrm flipH="false" flipV="false" rot="0">
              <a:off x="0" y="0"/>
              <a:ext cx="5075642" cy="2709333"/>
            </a:xfrm>
            <a:custGeom>
              <a:avLst/>
              <a:gdLst/>
              <a:ahLst/>
              <a:cxnLst/>
              <a:rect r="r" b="b" t="t" l="l"/>
              <a:pathLst>
                <a:path h="2709333" w="5075642">
                  <a:moveTo>
                    <a:pt x="0" y="0"/>
                  </a:moveTo>
                  <a:lnTo>
                    <a:pt x="5075642" y="0"/>
                  </a:lnTo>
                  <a:lnTo>
                    <a:pt x="5075642" y="2709333"/>
                  </a:lnTo>
                  <a:lnTo>
                    <a:pt x="0" y="2709333"/>
                  </a:lnTo>
                  <a:close/>
                </a:path>
              </a:pathLst>
            </a:custGeom>
            <a:solidFill>
              <a:srgbClr val="004AAD"/>
            </a:solidFill>
          </p:spPr>
        </p:sp>
        <p:sp>
          <p:nvSpPr>
            <p:cNvPr name="TextBox 5" id="5"/>
            <p:cNvSpPr txBox="true"/>
            <p:nvPr/>
          </p:nvSpPr>
          <p:spPr>
            <a:xfrm>
              <a:off x="0" y="-47625"/>
              <a:ext cx="5075642" cy="2756958"/>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841012" y="3309421"/>
            <a:ext cx="6494222" cy="2174152"/>
          </a:xfrm>
          <a:custGeom>
            <a:avLst/>
            <a:gdLst/>
            <a:ahLst/>
            <a:cxnLst/>
            <a:rect r="r" b="b" t="t" l="l"/>
            <a:pathLst>
              <a:path h="2174152" w="6494222">
                <a:moveTo>
                  <a:pt x="0" y="0"/>
                </a:moveTo>
                <a:lnTo>
                  <a:pt x="6494222" y="0"/>
                </a:lnTo>
                <a:lnTo>
                  <a:pt x="6494222" y="2174153"/>
                </a:lnTo>
                <a:lnTo>
                  <a:pt x="0" y="2174153"/>
                </a:lnTo>
                <a:lnTo>
                  <a:pt x="0" y="0"/>
                </a:lnTo>
                <a:close/>
              </a:path>
            </a:pathLst>
          </a:custGeom>
          <a:blipFill>
            <a:blip r:embed="rId3"/>
            <a:stretch>
              <a:fillRect l="0" t="0" r="0" b="0"/>
            </a:stretch>
          </a:blipFill>
        </p:spPr>
      </p:sp>
      <p:sp>
        <p:nvSpPr>
          <p:cNvPr name="TextBox 7" id="7"/>
          <p:cNvSpPr txBox="true"/>
          <p:nvPr/>
        </p:nvSpPr>
        <p:spPr>
          <a:xfrm rot="0">
            <a:off x="7206993" y="942975"/>
            <a:ext cx="3874013" cy="794805"/>
          </a:xfrm>
          <a:prstGeom prst="rect">
            <a:avLst/>
          </a:prstGeom>
        </p:spPr>
        <p:txBody>
          <a:bodyPr anchor="t" rtlCol="false" tIns="0" lIns="0" bIns="0" rIns="0">
            <a:spAutoFit/>
          </a:bodyPr>
          <a:lstStyle/>
          <a:p>
            <a:pPr algn="l">
              <a:lnSpc>
                <a:spcPts val="6591"/>
              </a:lnSpc>
            </a:pPr>
            <a:r>
              <a:rPr lang="en-US" sz="4708">
                <a:solidFill>
                  <a:srgbClr val="FFFFFF"/>
                </a:solidFill>
                <a:latin typeface="League Spartan"/>
                <a:ea typeface="League Spartan"/>
                <a:cs typeface="League Spartan"/>
                <a:sym typeface="League Spartan"/>
              </a:rPr>
              <a:t>IINLINE CSS</a:t>
            </a:r>
          </a:p>
        </p:txBody>
      </p:sp>
      <p:sp>
        <p:nvSpPr>
          <p:cNvPr name="TextBox 8" id="8"/>
          <p:cNvSpPr txBox="true"/>
          <p:nvPr/>
        </p:nvSpPr>
        <p:spPr>
          <a:xfrm rot="0">
            <a:off x="1286884" y="2257052"/>
            <a:ext cx="6696986" cy="7001248"/>
          </a:xfrm>
          <a:prstGeom prst="rect">
            <a:avLst/>
          </a:prstGeom>
        </p:spPr>
        <p:txBody>
          <a:bodyPr anchor="t" rtlCol="false" tIns="0" lIns="0" bIns="0" rIns="0">
            <a:spAutoFit/>
          </a:bodyPr>
          <a:lstStyle/>
          <a:p>
            <a:pPr algn="l">
              <a:lnSpc>
                <a:spcPts val="5554"/>
              </a:lnSpc>
            </a:pPr>
            <a:r>
              <a:rPr lang="en-US" sz="3967">
                <a:solidFill>
                  <a:srgbClr val="FFFFFF"/>
                </a:solidFill>
                <a:latin typeface="Poppins"/>
                <a:ea typeface="Poppins"/>
                <a:cs typeface="Poppins"/>
                <a:sym typeface="Poppins"/>
              </a:rPr>
              <a:t>Inline CSS ditulis langsung pada elemen HTML menggunakan atribut </a:t>
            </a:r>
            <a:r>
              <a:rPr lang="en-US" sz="3967" i="true">
                <a:solidFill>
                  <a:srgbClr val="FFFFFF"/>
                </a:solidFill>
                <a:latin typeface="Poppins Italics"/>
                <a:ea typeface="Poppins Italics"/>
                <a:cs typeface="Poppins Italics"/>
                <a:sym typeface="Poppins Italics"/>
              </a:rPr>
              <a:t>style.</a:t>
            </a:r>
          </a:p>
          <a:p>
            <a:pPr algn="l">
              <a:lnSpc>
                <a:spcPts val="5554"/>
              </a:lnSpc>
            </a:pPr>
            <a:r>
              <a:rPr lang="en-US" sz="3967">
                <a:solidFill>
                  <a:srgbClr val="FFFFFF"/>
                </a:solidFill>
                <a:latin typeface="Poppins"/>
                <a:ea typeface="Poppins"/>
                <a:cs typeface="Poppins"/>
                <a:sym typeface="Poppins"/>
              </a:rPr>
              <a:t>Ciri-ciri:</a:t>
            </a:r>
          </a:p>
          <a:p>
            <a:pPr algn="l" marL="856603" indent="-428301" lvl="1">
              <a:lnSpc>
                <a:spcPts val="5554"/>
              </a:lnSpc>
              <a:buFont typeface="Arial"/>
              <a:buChar char="•"/>
            </a:pPr>
            <a:r>
              <a:rPr lang="en-US" sz="3967">
                <a:solidFill>
                  <a:srgbClr val="FFFFFF"/>
                </a:solidFill>
                <a:latin typeface="Poppins"/>
                <a:ea typeface="Poppins"/>
                <a:cs typeface="Poppins"/>
                <a:sym typeface="Poppins"/>
              </a:rPr>
              <a:t>Cepat digunakan</a:t>
            </a:r>
          </a:p>
          <a:p>
            <a:pPr algn="l" marL="856603" indent="-428301" lvl="1">
              <a:lnSpc>
                <a:spcPts val="5554"/>
              </a:lnSpc>
              <a:buFont typeface="Arial"/>
              <a:buChar char="•"/>
            </a:pPr>
            <a:r>
              <a:rPr lang="en-US" sz="3967">
                <a:solidFill>
                  <a:srgbClr val="FFFFFF"/>
                </a:solidFill>
                <a:latin typeface="Poppins"/>
                <a:ea typeface="Poppins"/>
                <a:cs typeface="Poppins"/>
                <a:sym typeface="Poppins"/>
              </a:rPr>
              <a:t>Tidak perlu file tambahan</a:t>
            </a:r>
          </a:p>
          <a:p>
            <a:pPr algn="l" marL="856603" indent="-428301" lvl="1">
              <a:lnSpc>
                <a:spcPts val="5554"/>
              </a:lnSpc>
              <a:spcBef>
                <a:spcPct val="0"/>
              </a:spcBef>
              <a:buFont typeface="Arial"/>
              <a:buChar char="•"/>
            </a:pPr>
            <a:r>
              <a:rPr lang="en-US" sz="3967">
                <a:solidFill>
                  <a:srgbClr val="FFFFFF"/>
                </a:solidFill>
                <a:latin typeface="Poppins"/>
                <a:ea typeface="Poppins"/>
                <a:cs typeface="Poppins"/>
                <a:sym typeface="Poppins"/>
              </a:rPr>
              <a:t>Tidak cocok untuk project besar</a:t>
            </a:r>
          </a:p>
        </p:txBody>
      </p:sp>
      <p:sp>
        <p:nvSpPr>
          <p:cNvPr name="TextBox 9" id="9"/>
          <p:cNvSpPr txBox="true"/>
          <p:nvPr/>
        </p:nvSpPr>
        <p:spPr>
          <a:xfrm rot="0">
            <a:off x="9841012" y="2257052"/>
            <a:ext cx="2479989" cy="712296"/>
          </a:xfrm>
          <a:prstGeom prst="rect">
            <a:avLst/>
          </a:prstGeom>
        </p:spPr>
        <p:txBody>
          <a:bodyPr anchor="t" rtlCol="false" tIns="0" lIns="0" bIns="0" rIns="0">
            <a:spAutoFit/>
          </a:bodyPr>
          <a:lstStyle/>
          <a:p>
            <a:pPr algn="l">
              <a:lnSpc>
                <a:spcPts val="5554"/>
              </a:lnSpc>
              <a:spcBef>
                <a:spcPct val="0"/>
              </a:spcBef>
            </a:pPr>
            <a:r>
              <a:rPr lang="en-US" sz="3967">
                <a:solidFill>
                  <a:srgbClr val="FFFFFF"/>
                </a:solidFill>
                <a:latin typeface="Poppins"/>
                <a:ea typeface="Poppins"/>
                <a:cs typeface="Poppins"/>
                <a:sym typeface="Poppins"/>
              </a:rPr>
              <a:t>Contoh:</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8997950"/>
            <a:ext cx="2514600" cy="260350"/>
            <a:chOff x="0" y="0"/>
            <a:chExt cx="662281" cy="68570"/>
          </a:xfrm>
        </p:grpSpPr>
        <p:sp>
          <p:nvSpPr>
            <p:cNvPr name="Freeform 4" id="4"/>
            <p:cNvSpPr/>
            <p:nvPr/>
          </p:nvSpPr>
          <p:spPr>
            <a:xfrm flipH="false" flipV="false" rot="0">
              <a:off x="0" y="0"/>
              <a:ext cx="662281" cy="68570"/>
            </a:xfrm>
            <a:custGeom>
              <a:avLst/>
              <a:gdLst/>
              <a:ahLst/>
              <a:cxnLst/>
              <a:rect r="r" b="b" t="t" l="l"/>
              <a:pathLst>
                <a:path h="68570" w="662281">
                  <a:moveTo>
                    <a:pt x="0" y="0"/>
                  </a:moveTo>
                  <a:lnTo>
                    <a:pt x="662281" y="0"/>
                  </a:lnTo>
                  <a:lnTo>
                    <a:pt x="662281" y="68570"/>
                  </a:lnTo>
                  <a:lnTo>
                    <a:pt x="0" y="68570"/>
                  </a:lnTo>
                  <a:close/>
                </a:path>
              </a:pathLst>
            </a:custGeom>
            <a:solidFill>
              <a:srgbClr val="004AAD"/>
            </a:solidFill>
          </p:spPr>
        </p:sp>
        <p:sp>
          <p:nvSpPr>
            <p:cNvPr name="TextBox 5" id="5"/>
            <p:cNvSpPr txBox="true"/>
            <p:nvPr/>
          </p:nvSpPr>
          <p:spPr>
            <a:xfrm>
              <a:off x="0" y="-47625"/>
              <a:ext cx="662281" cy="11619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0267950" y="806450"/>
            <a:ext cx="6294884" cy="8674100"/>
            <a:chOff x="0" y="0"/>
            <a:chExt cx="1657912" cy="2284537"/>
          </a:xfrm>
        </p:grpSpPr>
        <p:sp>
          <p:nvSpPr>
            <p:cNvPr name="Freeform 7" id="7"/>
            <p:cNvSpPr/>
            <p:nvPr/>
          </p:nvSpPr>
          <p:spPr>
            <a:xfrm flipH="false" flipV="false" rot="0">
              <a:off x="0" y="0"/>
              <a:ext cx="1657912" cy="2284537"/>
            </a:xfrm>
            <a:custGeom>
              <a:avLst/>
              <a:gdLst/>
              <a:ahLst/>
              <a:cxnLst/>
              <a:rect r="r" b="b" t="t" l="l"/>
              <a:pathLst>
                <a:path h="2284537" w="1657912">
                  <a:moveTo>
                    <a:pt x="62724" y="0"/>
                  </a:moveTo>
                  <a:lnTo>
                    <a:pt x="1595188" y="0"/>
                  </a:lnTo>
                  <a:cubicBezTo>
                    <a:pt x="1611824" y="0"/>
                    <a:pt x="1627778" y="6608"/>
                    <a:pt x="1639541" y="18371"/>
                  </a:cubicBezTo>
                  <a:cubicBezTo>
                    <a:pt x="1651304" y="30134"/>
                    <a:pt x="1657912" y="46088"/>
                    <a:pt x="1657912" y="62724"/>
                  </a:cubicBezTo>
                  <a:lnTo>
                    <a:pt x="1657912" y="2221813"/>
                  </a:lnTo>
                  <a:cubicBezTo>
                    <a:pt x="1657912" y="2256454"/>
                    <a:pt x="1629830" y="2284537"/>
                    <a:pt x="1595188" y="2284537"/>
                  </a:cubicBezTo>
                  <a:lnTo>
                    <a:pt x="62724" y="2284537"/>
                  </a:lnTo>
                  <a:cubicBezTo>
                    <a:pt x="46088" y="2284537"/>
                    <a:pt x="30134" y="2277928"/>
                    <a:pt x="18371" y="2266165"/>
                  </a:cubicBezTo>
                  <a:cubicBezTo>
                    <a:pt x="6608" y="2254403"/>
                    <a:pt x="0" y="2238448"/>
                    <a:pt x="0" y="2221813"/>
                  </a:cubicBezTo>
                  <a:lnTo>
                    <a:pt x="0" y="62724"/>
                  </a:lnTo>
                  <a:cubicBezTo>
                    <a:pt x="0" y="46088"/>
                    <a:pt x="6608" y="30134"/>
                    <a:pt x="18371" y="18371"/>
                  </a:cubicBezTo>
                  <a:cubicBezTo>
                    <a:pt x="30134" y="6608"/>
                    <a:pt x="46088" y="0"/>
                    <a:pt x="62724" y="0"/>
                  </a:cubicBezTo>
                  <a:close/>
                </a:path>
              </a:pathLst>
            </a:custGeom>
            <a:solidFill>
              <a:srgbClr val="004AAD"/>
            </a:solidFill>
          </p:spPr>
        </p:sp>
        <p:sp>
          <p:nvSpPr>
            <p:cNvPr name="TextBox 8" id="8"/>
            <p:cNvSpPr txBox="true"/>
            <p:nvPr/>
          </p:nvSpPr>
          <p:spPr>
            <a:xfrm>
              <a:off x="0" y="-47625"/>
              <a:ext cx="1657912" cy="2332162"/>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1028700" y="1140957"/>
            <a:ext cx="5391129" cy="912915"/>
          </a:xfrm>
          <a:prstGeom prst="rect">
            <a:avLst/>
          </a:prstGeom>
        </p:spPr>
        <p:txBody>
          <a:bodyPr anchor="t" rtlCol="false" tIns="0" lIns="0" bIns="0" rIns="0">
            <a:spAutoFit/>
          </a:bodyPr>
          <a:lstStyle/>
          <a:p>
            <a:pPr algn="l">
              <a:lnSpc>
                <a:spcPts val="7431"/>
              </a:lnSpc>
            </a:pPr>
            <a:r>
              <a:rPr lang="en-US" b="true" sz="5308">
                <a:solidFill>
                  <a:srgbClr val="004AAD"/>
                </a:solidFill>
                <a:latin typeface="League Spartan"/>
                <a:ea typeface="League Spartan"/>
                <a:cs typeface="League Spartan"/>
                <a:sym typeface="League Spartan"/>
              </a:rPr>
              <a:t>INTERNAL CSS</a:t>
            </a:r>
          </a:p>
        </p:txBody>
      </p:sp>
      <p:sp>
        <p:nvSpPr>
          <p:cNvPr name="TextBox 10" id="10"/>
          <p:cNvSpPr txBox="true"/>
          <p:nvPr/>
        </p:nvSpPr>
        <p:spPr>
          <a:xfrm rot="0">
            <a:off x="1028700" y="2998946"/>
            <a:ext cx="4068661" cy="4480191"/>
          </a:xfrm>
          <a:prstGeom prst="rect">
            <a:avLst/>
          </a:prstGeom>
        </p:spPr>
        <p:txBody>
          <a:bodyPr anchor="t" rtlCol="false" tIns="0" lIns="0" bIns="0" rIns="0">
            <a:spAutoFit/>
          </a:bodyPr>
          <a:lstStyle/>
          <a:p>
            <a:pPr algn="l">
              <a:lnSpc>
                <a:spcPts val="5961"/>
              </a:lnSpc>
              <a:spcBef>
                <a:spcPct val="0"/>
              </a:spcBef>
            </a:pPr>
            <a:r>
              <a:rPr lang="en-US" sz="4258">
                <a:solidFill>
                  <a:srgbClr val="000000"/>
                </a:solidFill>
                <a:latin typeface="Poppins"/>
                <a:ea typeface="Poppins"/>
                <a:cs typeface="Poppins"/>
                <a:sym typeface="Poppins"/>
              </a:rPr>
              <a:t>Internal CSS ditulis di dalam file HTML menggunakan tag &lt;style&gt;.</a:t>
            </a:r>
          </a:p>
        </p:txBody>
      </p:sp>
      <p:grpSp>
        <p:nvGrpSpPr>
          <p:cNvPr name="Group 11" id="11"/>
          <p:cNvGrpSpPr/>
          <p:nvPr/>
        </p:nvGrpSpPr>
        <p:grpSpPr>
          <a:xfrm rot="0">
            <a:off x="8862583" y="1606753"/>
            <a:ext cx="1868266" cy="1868266"/>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8862583" y="4210291"/>
            <a:ext cx="1868266" cy="1868266"/>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grpSp>
        <p:nvGrpSpPr>
          <p:cNvPr name="Group 17" id="17"/>
          <p:cNvGrpSpPr/>
          <p:nvPr/>
        </p:nvGrpSpPr>
        <p:grpSpPr>
          <a:xfrm rot="0">
            <a:off x="8862583" y="6811982"/>
            <a:ext cx="1868266" cy="1868266"/>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19" id="19"/>
            <p:cNvSpPr txBox="true"/>
            <p:nvPr/>
          </p:nvSpPr>
          <p:spPr>
            <a:xfrm>
              <a:off x="76200" y="28575"/>
              <a:ext cx="660400" cy="708025"/>
            </a:xfrm>
            <a:prstGeom prst="rect">
              <a:avLst/>
            </a:prstGeom>
          </p:spPr>
          <p:txBody>
            <a:bodyPr anchor="ctr" rtlCol="false" tIns="50800" lIns="50800" bIns="50800" rIns="50800"/>
            <a:lstStyle/>
            <a:p>
              <a:pPr algn="ctr">
                <a:lnSpc>
                  <a:spcPts val="2659"/>
                </a:lnSpc>
              </a:pPr>
            </a:p>
          </p:txBody>
        </p:sp>
      </p:grpSp>
      <p:sp>
        <p:nvSpPr>
          <p:cNvPr name="TextBox 20" id="20"/>
          <p:cNvSpPr txBox="true"/>
          <p:nvPr/>
        </p:nvSpPr>
        <p:spPr>
          <a:xfrm rot="0">
            <a:off x="8977298" y="1901472"/>
            <a:ext cx="1638836" cy="1335977"/>
          </a:xfrm>
          <a:prstGeom prst="rect">
            <a:avLst/>
          </a:prstGeom>
        </p:spPr>
        <p:txBody>
          <a:bodyPr anchor="t" rtlCol="false" tIns="0" lIns="0" bIns="0" rIns="0">
            <a:spAutoFit/>
          </a:bodyPr>
          <a:lstStyle/>
          <a:p>
            <a:pPr algn="ctr">
              <a:lnSpc>
                <a:spcPts val="11002"/>
              </a:lnSpc>
            </a:pPr>
            <a:r>
              <a:rPr lang="en-US" sz="7859">
                <a:solidFill>
                  <a:srgbClr val="000000"/>
                </a:solidFill>
                <a:latin typeface="League Spartan"/>
                <a:ea typeface="League Spartan"/>
                <a:cs typeface="League Spartan"/>
                <a:sym typeface="League Spartan"/>
              </a:rPr>
              <a:t>1</a:t>
            </a:r>
          </a:p>
        </p:txBody>
      </p:sp>
      <p:sp>
        <p:nvSpPr>
          <p:cNvPr name="TextBox 21" id="21"/>
          <p:cNvSpPr txBox="true"/>
          <p:nvPr/>
        </p:nvSpPr>
        <p:spPr>
          <a:xfrm rot="0">
            <a:off x="8977298" y="4495485"/>
            <a:ext cx="1638836" cy="1335977"/>
          </a:xfrm>
          <a:prstGeom prst="rect">
            <a:avLst/>
          </a:prstGeom>
        </p:spPr>
        <p:txBody>
          <a:bodyPr anchor="t" rtlCol="false" tIns="0" lIns="0" bIns="0" rIns="0">
            <a:spAutoFit/>
          </a:bodyPr>
          <a:lstStyle/>
          <a:p>
            <a:pPr algn="ctr">
              <a:lnSpc>
                <a:spcPts val="11002"/>
              </a:lnSpc>
            </a:pPr>
            <a:r>
              <a:rPr lang="en-US" b="true" sz="7859">
                <a:solidFill>
                  <a:srgbClr val="000000"/>
                </a:solidFill>
                <a:latin typeface="League Spartan"/>
                <a:ea typeface="League Spartan"/>
                <a:cs typeface="League Spartan"/>
                <a:sym typeface="League Spartan"/>
              </a:rPr>
              <a:t>2</a:t>
            </a:r>
          </a:p>
        </p:txBody>
      </p:sp>
      <p:sp>
        <p:nvSpPr>
          <p:cNvPr name="TextBox 22" id="22"/>
          <p:cNvSpPr txBox="true"/>
          <p:nvPr/>
        </p:nvSpPr>
        <p:spPr>
          <a:xfrm rot="0">
            <a:off x="8977298" y="7097732"/>
            <a:ext cx="1638836" cy="1335977"/>
          </a:xfrm>
          <a:prstGeom prst="rect">
            <a:avLst/>
          </a:prstGeom>
        </p:spPr>
        <p:txBody>
          <a:bodyPr anchor="t" rtlCol="false" tIns="0" lIns="0" bIns="0" rIns="0">
            <a:spAutoFit/>
          </a:bodyPr>
          <a:lstStyle/>
          <a:p>
            <a:pPr algn="ctr">
              <a:lnSpc>
                <a:spcPts val="11002"/>
              </a:lnSpc>
            </a:pPr>
            <a:r>
              <a:rPr lang="en-US" sz="7859">
                <a:solidFill>
                  <a:srgbClr val="000000"/>
                </a:solidFill>
                <a:latin typeface="League Spartan"/>
                <a:ea typeface="League Spartan"/>
                <a:cs typeface="League Spartan"/>
                <a:sym typeface="League Spartan"/>
              </a:rPr>
              <a:t>3</a:t>
            </a:r>
          </a:p>
        </p:txBody>
      </p:sp>
      <p:sp>
        <p:nvSpPr>
          <p:cNvPr name="TextBox 23" id="23"/>
          <p:cNvSpPr txBox="true"/>
          <p:nvPr/>
        </p:nvSpPr>
        <p:spPr>
          <a:xfrm rot="0">
            <a:off x="10987347" y="2235225"/>
            <a:ext cx="4856091" cy="525597"/>
          </a:xfrm>
          <a:prstGeom prst="rect">
            <a:avLst/>
          </a:prstGeom>
        </p:spPr>
        <p:txBody>
          <a:bodyPr anchor="t" rtlCol="false" tIns="0" lIns="0" bIns="0" rIns="0">
            <a:spAutoFit/>
          </a:bodyPr>
          <a:lstStyle/>
          <a:p>
            <a:pPr algn="l">
              <a:lnSpc>
                <a:spcPts val="4105"/>
              </a:lnSpc>
              <a:spcBef>
                <a:spcPct val="0"/>
              </a:spcBef>
            </a:pPr>
            <a:r>
              <a:rPr lang="en-US" sz="2932">
                <a:solidFill>
                  <a:srgbClr val="FFFFFF"/>
                </a:solidFill>
                <a:latin typeface="Poppins"/>
                <a:ea typeface="Poppins"/>
                <a:cs typeface="Poppins"/>
                <a:sym typeface="Poppins"/>
              </a:rPr>
              <a:t>Semua ada dalam 1 file</a:t>
            </a:r>
          </a:p>
        </p:txBody>
      </p:sp>
      <p:sp>
        <p:nvSpPr>
          <p:cNvPr name="TextBox 24" id="24"/>
          <p:cNvSpPr txBox="true"/>
          <p:nvPr/>
        </p:nvSpPr>
        <p:spPr>
          <a:xfrm rot="0">
            <a:off x="10987347" y="4581588"/>
            <a:ext cx="4856091" cy="1039947"/>
          </a:xfrm>
          <a:prstGeom prst="rect">
            <a:avLst/>
          </a:prstGeom>
        </p:spPr>
        <p:txBody>
          <a:bodyPr anchor="t" rtlCol="false" tIns="0" lIns="0" bIns="0" rIns="0">
            <a:spAutoFit/>
          </a:bodyPr>
          <a:lstStyle/>
          <a:p>
            <a:pPr algn="l">
              <a:lnSpc>
                <a:spcPts val="4105"/>
              </a:lnSpc>
              <a:spcBef>
                <a:spcPct val="0"/>
              </a:spcBef>
            </a:pPr>
            <a:r>
              <a:rPr lang="en-US" sz="2932">
                <a:solidFill>
                  <a:srgbClr val="FFFFFF"/>
                </a:solidFill>
                <a:latin typeface="Poppins"/>
                <a:ea typeface="Poppins"/>
                <a:cs typeface="Poppins"/>
                <a:sym typeface="Poppins"/>
              </a:rPr>
              <a:t>Cocok untuk halaman kecil</a:t>
            </a:r>
          </a:p>
        </p:txBody>
      </p:sp>
      <p:sp>
        <p:nvSpPr>
          <p:cNvPr name="TextBox 25" id="25"/>
          <p:cNvSpPr txBox="true"/>
          <p:nvPr/>
        </p:nvSpPr>
        <p:spPr>
          <a:xfrm rot="0">
            <a:off x="10987347" y="7183279"/>
            <a:ext cx="5950039" cy="1039947"/>
          </a:xfrm>
          <a:prstGeom prst="rect">
            <a:avLst/>
          </a:prstGeom>
        </p:spPr>
        <p:txBody>
          <a:bodyPr anchor="t" rtlCol="false" tIns="0" lIns="0" bIns="0" rIns="0">
            <a:spAutoFit/>
          </a:bodyPr>
          <a:lstStyle/>
          <a:p>
            <a:pPr algn="l">
              <a:lnSpc>
                <a:spcPts val="4105"/>
              </a:lnSpc>
              <a:spcBef>
                <a:spcPct val="0"/>
              </a:spcBef>
            </a:pPr>
            <a:r>
              <a:rPr lang="en-US" sz="2932">
                <a:solidFill>
                  <a:srgbClr val="FFFFFF"/>
                </a:solidFill>
                <a:latin typeface="Poppins"/>
                <a:ea typeface="Poppins"/>
                <a:cs typeface="Poppins"/>
                <a:sym typeface="Poppins"/>
              </a:rPr>
              <a:t>Tidak efisien untuk banyak halaman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8997950"/>
            <a:ext cx="2514600" cy="260350"/>
            <a:chOff x="0" y="0"/>
            <a:chExt cx="662281" cy="68570"/>
          </a:xfrm>
        </p:grpSpPr>
        <p:sp>
          <p:nvSpPr>
            <p:cNvPr name="Freeform 4" id="4"/>
            <p:cNvSpPr/>
            <p:nvPr/>
          </p:nvSpPr>
          <p:spPr>
            <a:xfrm flipH="false" flipV="false" rot="0">
              <a:off x="0" y="0"/>
              <a:ext cx="662281" cy="68570"/>
            </a:xfrm>
            <a:custGeom>
              <a:avLst/>
              <a:gdLst/>
              <a:ahLst/>
              <a:cxnLst/>
              <a:rect r="r" b="b" t="t" l="l"/>
              <a:pathLst>
                <a:path h="68570" w="662281">
                  <a:moveTo>
                    <a:pt x="0" y="0"/>
                  </a:moveTo>
                  <a:lnTo>
                    <a:pt x="662281" y="0"/>
                  </a:lnTo>
                  <a:lnTo>
                    <a:pt x="662281" y="68570"/>
                  </a:lnTo>
                  <a:lnTo>
                    <a:pt x="0" y="68570"/>
                  </a:lnTo>
                  <a:close/>
                </a:path>
              </a:pathLst>
            </a:custGeom>
            <a:solidFill>
              <a:srgbClr val="004AAD"/>
            </a:solidFill>
          </p:spPr>
        </p:sp>
        <p:sp>
          <p:nvSpPr>
            <p:cNvPr name="TextBox 5" id="5"/>
            <p:cNvSpPr txBox="true"/>
            <p:nvPr/>
          </p:nvSpPr>
          <p:spPr>
            <a:xfrm>
              <a:off x="0" y="-47625"/>
              <a:ext cx="662281" cy="116195"/>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028700" y="1140957"/>
            <a:ext cx="6166249" cy="912915"/>
          </a:xfrm>
          <a:prstGeom prst="rect">
            <a:avLst/>
          </a:prstGeom>
        </p:spPr>
        <p:txBody>
          <a:bodyPr anchor="t" rtlCol="false" tIns="0" lIns="0" bIns="0" rIns="0">
            <a:spAutoFit/>
          </a:bodyPr>
          <a:lstStyle/>
          <a:p>
            <a:pPr algn="l">
              <a:lnSpc>
                <a:spcPts val="7431"/>
              </a:lnSpc>
            </a:pPr>
            <a:r>
              <a:rPr lang="en-US" b="true" sz="5308">
                <a:solidFill>
                  <a:srgbClr val="004AAD"/>
                </a:solidFill>
                <a:latin typeface="League Spartan"/>
                <a:ea typeface="League Spartan"/>
                <a:cs typeface="League Spartan"/>
                <a:sym typeface="League Spartan"/>
              </a:rPr>
              <a:t>EKSTERNAL CSS</a:t>
            </a:r>
          </a:p>
        </p:txBody>
      </p:sp>
      <p:sp>
        <p:nvSpPr>
          <p:cNvPr name="TextBox 7" id="7"/>
          <p:cNvSpPr txBox="true"/>
          <p:nvPr/>
        </p:nvSpPr>
        <p:spPr>
          <a:xfrm rot="0">
            <a:off x="1028700" y="3223903"/>
            <a:ext cx="3657318" cy="4480191"/>
          </a:xfrm>
          <a:prstGeom prst="rect">
            <a:avLst/>
          </a:prstGeom>
        </p:spPr>
        <p:txBody>
          <a:bodyPr anchor="t" rtlCol="false" tIns="0" lIns="0" bIns="0" rIns="0">
            <a:spAutoFit/>
          </a:bodyPr>
          <a:lstStyle/>
          <a:p>
            <a:pPr algn="l">
              <a:lnSpc>
                <a:spcPts val="5961"/>
              </a:lnSpc>
              <a:spcBef>
                <a:spcPct val="0"/>
              </a:spcBef>
            </a:pPr>
            <a:r>
              <a:rPr lang="en-US" sz="4258">
                <a:solidFill>
                  <a:srgbClr val="000000"/>
                </a:solidFill>
                <a:latin typeface="Poppins"/>
                <a:ea typeface="Poppins"/>
                <a:cs typeface="Poppins"/>
                <a:sym typeface="Poppins"/>
              </a:rPr>
              <a:t>External CSS disimpan di file .css terpisah dan dihubungkan ke HTML.</a:t>
            </a:r>
          </a:p>
        </p:txBody>
      </p:sp>
      <p:grpSp>
        <p:nvGrpSpPr>
          <p:cNvPr name="Group 8" id="8"/>
          <p:cNvGrpSpPr/>
          <p:nvPr/>
        </p:nvGrpSpPr>
        <p:grpSpPr>
          <a:xfrm rot="0">
            <a:off x="8166887" y="3122771"/>
            <a:ext cx="8115300" cy="6495149"/>
            <a:chOff x="0" y="0"/>
            <a:chExt cx="10820400" cy="8660199"/>
          </a:xfrm>
        </p:grpSpPr>
        <p:grpSp>
          <p:nvGrpSpPr>
            <p:cNvPr name="Group 9" id="9"/>
            <p:cNvGrpSpPr/>
            <p:nvPr/>
          </p:nvGrpSpPr>
          <p:grpSpPr>
            <a:xfrm rot="0">
              <a:off x="1974823" y="0"/>
              <a:ext cx="8845577" cy="8660199"/>
              <a:chOff x="0" y="0"/>
              <a:chExt cx="2333439" cy="2284537"/>
            </a:xfrm>
          </p:grpSpPr>
          <p:sp>
            <p:nvSpPr>
              <p:cNvPr name="Freeform 10" id="10"/>
              <p:cNvSpPr/>
              <p:nvPr/>
            </p:nvSpPr>
            <p:spPr>
              <a:xfrm flipH="false" flipV="false" rot="0">
                <a:off x="0" y="0"/>
                <a:ext cx="2333439" cy="2284537"/>
              </a:xfrm>
              <a:custGeom>
                <a:avLst/>
                <a:gdLst/>
                <a:ahLst/>
                <a:cxnLst/>
                <a:rect r="r" b="b" t="t" l="l"/>
                <a:pathLst>
                  <a:path h="2284537" w="2333439">
                    <a:moveTo>
                      <a:pt x="44565" y="0"/>
                    </a:moveTo>
                    <a:lnTo>
                      <a:pt x="2288873" y="0"/>
                    </a:lnTo>
                    <a:cubicBezTo>
                      <a:pt x="2313486" y="0"/>
                      <a:pt x="2333439" y="19953"/>
                      <a:pt x="2333439" y="44565"/>
                    </a:cubicBezTo>
                    <a:lnTo>
                      <a:pt x="2333439" y="2239971"/>
                    </a:lnTo>
                    <a:cubicBezTo>
                      <a:pt x="2333439" y="2264584"/>
                      <a:pt x="2313486" y="2284537"/>
                      <a:pt x="2288873" y="2284537"/>
                    </a:cubicBezTo>
                    <a:lnTo>
                      <a:pt x="44565" y="2284537"/>
                    </a:lnTo>
                    <a:cubicBezTo>
                      <a:pt x="32746" y="2284537"/>
                      <a:pt x="21410" y="2279841"/>
                      <a:pt x="13053" y="2271484"/>
                    </a:cubicBezTo>
                    <a:cubicBezTo>
                      <a:pt x="4695" y="2263126"/>
                      <a:pt x="0" y="2251791"/>
                      <a:pt x="0" y="2239971"/>
                    </a:cubicBezTo>
                    <a:lnTo>
                      <a:pt x="0" y="44565"/>
                    </a:lnTo>
                    <a:cubicBezTo>
                      <a:pt x="0" y="19953"/>
                      <a:pt x="19953" y="0"/>
                      <a:pt x="44565" y="0"/>
                    </a:cubicBezTo>
                    <a:close/>
                  </a:path>
                </a:pathLst>
              </a:custGeom>
              <a:solidFill>
                <a:srgbClr val="004AAD"/>
              </a:solidFill>
            </p:spPr>
          </p:sp>
          <p:sp>
            <p:nvSpPr>
              <p:cNvPr name="TextBox 11" id="11"/>
              <p:cNvSpPr txBox="true"/>
              <p:nvPr/>
            </p:nvSpPr>
            <p:spPr>
              <a:xfrm>
                <a:off x="0" y="-47625"/>
                <a:ext cx="2333439" cy="2332162"/>
              </a:xfrm>
              <a:prstGeom prst="rect">
                <a:avLst/>
              </a:prstGeom>
            </p:spPr>
            <p:txBody>
              <a:bodyPr anchor="ctr" rtlCol="false" tIns="50800" lIns="50800" bIns="50800" rIns="50800"/>
              <a:lstStyle/>
              <a:p>
                <a:pPr algn="ctr">
                  <a:lnSpc>
                    <a:spcPts val="2659"/>
                  </a:lnSpc>
                </a:pPr>
              </a:p>
            </p:txBody>
          </p:sp>
        </p:grpSp>
        <p:grpSp>
          <p:nvGrpSpPr>
            <p:cNvPr name="Group 12" id="12"/>
            <p:cNvGrpSpPr/>
            <p:nvPr/>
          </p:nvGrpSpPr>
          <p:grpSpPr>
            <a:xfrm rot="0">
              <a:off x="0" y="577126"/>
              <a:ext cx="2625288" cy="1865271"/>
              <a:chOff x="0" y="0"/>
              <a:chExt cx="1143981" cy="812800"/>
            </a:xfrm>
          </p:grpSpPr>
          <p:sp>
            <p:nvSpPr>
              <p:cNvPr name="Freeform 13" id="13"/>
              <p:cNvSpPr/>
              <p:nvPr/>
            </p:nvSpPr>
            <p:spPr>
              <a:xfrm flipH="false" flipV="false" rot="0">
                <a:off x="0" y="0"/>
                <a:ext cx="1143981" cy="812800"/>
              </a:xfrm>
              <a:custGeom>
                <a:avLst/>
                <a:gdLst/>
                <a:ahLst/>
                <a:cxnLst/>
                <a:rect r="r" b="b" t="t" l="l"/>
                <a:pathLst>
                  <a:path h="812800" w="1143981">
                    <a:moveTo>
                      <a:pt x="571990" y="0"/>
                    </a:moveTo>
                    <a:cubicBezTo>
                      <a:pt x="256089" y="0"/>
                      <a:pt x="0" y="181951"/>
                      <a:pt x="0" y="406400"/>
                    </a:cubicBezTo>
                    <a:cubicBezTo>
                      <a:pt x="0" y="630849"/>
                      <a:pt x="256089" y="812800"/>
                      <a:pt x="571990" y="812800"/>
                    </a:cubicBezTo>
                    <a:cubicBezTo>
                      <a:pt x="887892" y="812800"/>
                      <a:pt x="1143981" y="630849"/>
                      <a:pt x="1143981" y="406400"/>
                    </a:cubicBezTo>
                    <a:cubicBezTo>
                      <a:pt x="1143981" y="181951"/>
                      <a:pt x="887892" y="0"/>
                      <a:pt x="571990" y="0"/>
                    </a:cubicBezTo>
                    <a:close/>
                  </a:path>
                </a:pathLst>
              </a:custGeom>
              <a:solidFill>
                <a:srgbClr val="E5E5E5"/>
              </a:solidFill>
            </p:spPr>
          </p:sp>
          <p:sp>
            <p:nvSpPr>
              <p:cNvPr name="TextBox 14" id="14"/>
              <p:cNvSpPr txBox="true"/>
              <p:nvPr/>
            </p:nvSpPr>
            <p:spPr>
              <a:xfrm>
                <a:off x="107248" y="28575"/>
                <a:ext cx="929484" cy="708025"/>
              </a:xfrm>
              <a:prstGeom prst="rect">
                <a:avLst/>
              </a:prstGeom>
            </p:spPr>
            <p:txBody>
              <a:bodyPr anchor="ctr" rtlCol="false" tIns="50800" lIns="50800" bIns="50800" rIns="50800"/>
              <a:lstStyle/>
              <a:p>
                <a:pPr algn="ctr">
                  <a:lnSpc>
                    <a:spcPts val="2659"/>
                  </a:lnSpc>
                </a:pPr>
              </a:p>
            </p:txBody>
          </p:sp>
        </p:grpSp>
        <p:grpSp>
          <p:nvGrpSpPr>
            <p:cNvPr name="Group 15" id="15"/>
            <p:cNvGrpSpPr/>
            <p:nvPr/>
          </p:nvGrpSpPr>
          <p:grpSpPr>
            <a:xfrm rot="0">
              <a:off x="0" y="3176492"/>
              <a:ext cx="2625288" cy="1865271"/>
              <a:chOff x="0" y="0"/>
              <a:chExt cx="1143981" cy="812800"/>
            </a:xfrm>
          </p:grpSpPr>
          <p:sp>
            <p:nvSpPr>
              <p:cNvPr name="Freeform 16" id="16"/>
              <p:cNvSpPr/>
              <p:nvPr/>
            </p:nvSpPr>
            <p:spPr>
              <a:xfrm flipH="false" flipV="false" rot="0">
                <a:off x="0" y="0"/>
                <a:ext cx="1143981" cy="812800"/>
              </a:xfrm>
              <a:custGeom>
                <a:avLst/>
                <a:gdLst/>
                <a:ahLst/>
                <a:cxnLst/>
                <a:rect r="r" b="b" t="t" l="l"/>
                <a:pathLst>
                  <a:path h="812800" w="1143981">
                    <a:moveTo>
                      <a:pt x="571990" y="0"/>
                    </a:moveTo>
                    <a:cubicBezTo>
                      <a:pt x="256089" y="0"/>
                      <a:pt x="0" y="181951"/>
                      <a:pt x="0" y="406400"/>
                    </a:cubicBezTo>
                    <a:cubicBezTo>
                      <a:pt x="0" y="630849"/>
                      <a:pt x="256089" y="812800"/>
                      <a:pt x="571990" y="812800"/>
                    </a:cubicBezTo>
                    <a:cubicBezTo>
                      <a:pt x="887892" y="812800"/>
                      <a:pt x="1143981" y="630849"/>
                      <a:pt x="1143981" y="406400"/>
                    </a:cubicBezTo>
                    <a:cubicBezTo>
                      <a:pt x="1143981" y="181951"/>
                      <a:pt x="887892" y="0"/>
                      <a:pt x="571990" y="0"/>
                    </a:cubicBezTo>
                    <a:close/>
                  </a:path>
                </a:pathLst>
              </a:custGeom>
              <a:solidFill>
                <a:srgbClr val="E5E5E5"/>
              </a:solidFill>
            </p:spPr>
          </p:sp>
          <p:sp>
            <p:nvSpPr>
              <p:cNvPr name="TextBox 17" id="17"/>
              <p:cNvSpPr txBox="true"/>
              <p:nvPr/>
            </p:nvSpPr>
            <p:spPr>
              <a:xfrm>
                <a:off x="107248" y="28575"/>
                <a:ext cx="929484" cy="708025"/>
              </a:xfrm>
              <a:prstGeom prst="rect">
                <a:avLst/>
              </a:prstGeom>
            </p:spPr>
            <p:txBody>
              <a:bodyPr anchor="ctr" rtlCol="false" tIns="50800" lIns="50800" bIns="50800" rIns="50800"/>
              <a:lstStyle/>
              <a:p>
                <a:pPr algn="ctr">
                  <a:lnSpc>
                    <a:spcPts val="2659"/>
                  </a:lnSpc>
                </a:pPr>
              </a:p>
            </p:txBody>
          </p:sp>
        </p:grpSp>
        <p:grpSp>
          <p:nvGrpSpPr>
            <p:cNvPr name="Group 18" id="18"/>
            <p:cNvGrpSpPr/>
            <p:nvPr/>
          </p:nvGrpSpPr>
          <p:grpSpPr>
            <a:xfrm rot="0">
              <a:off x="0" y="5774013"/>
              <a:ext cx="2625288" cy="1865271"/>
              <a:chOff x="0" y="0"/>
              <a:chExt cx="1143981" cy="812800"/>
            </a:xfrm>
          </p:grpSpPr>
          <p:sp>
            <p:nvSpPr>
              <p:cNvPr name="Freeform 19" id="19"/>
              <p:cNvSpPr/>
              <p:nvPr/>
            </p:nvSpPr>
            <p:spPr>
              <a:xfrm flipH="false" flipV="false" rot="0">
                <a:off x="0" y="0"/>
                <a:ext cx="1143981" cy="812800"/>
              </a:xfrm>
              <a:custGeom>
                <a:avLst/>
                <a:gdLst/>
                <a:ahLst/>
                <a:cxnLst/>
                <a:rect r="r" b="b" t="t" l="l"/>
                <a:pathLst>
                  <a:path h="812800" w="1143981">
                    <a:moveTo>
                      <a:pt x="571990" y="0"/>
                    </a:moveTo>
                    <a:cubicBezTo>
                      <a:pt x="256089" y="0"/>
                      <a:pt x="0" y="181951"/>
                      <a:pt x="0" y="406400"/>
                    </a:cubicBezTo>
                    <a:cubicBezTo>
                      <a:pt x="0" y="630849"/>
                      <a:pt x="256089" y="812800"/>
                      <a:pt x="571990" y="812800"/>
                    </a:cubicBezTo>
                    <a:cubicBezTo>
                      <a:pt x="887892" y="812800"/>
                      <a:pt x="1143981" y="630849"/>
                      <a:pt x="1143981" y="406400"/>
                    </a:cubicBezTo>
                    <a:cubicBezTo>
                      <a:pt x="1143981" y="181951"/>
                      <a:pt x="887892" y="0"/>
                      <a:pt x="571990" y="0"/>
                    </a:cubicBezTo>
                    <a:close/>
                  </a:path>
                </a:pathLst>
              </a:custGeom>
              <a:solidFill>
                <a:srgbClr val="E5E5E5"/>
              </a:solidFill>
            </p:spPr>
          </p:sp>
          <p:sp>
            <p:nvSpPr>
              <p:cNvPr name="TextBox 20" id="20"/>
              <p:cNvSpPr txBox="true"/>
              <p:nvPr/>
            </p:nvSpPr>
            <p:spPr>
              <a:xfrm>
                <a:off x="107248" y="28575"/>
                <a:ext cx="929484" cy="708025"/>
              </a:xfrm>
              <a:prstGeom prst="rect">
                <a:avLst/>
              </a:prstGeom>
            </p:spPr>
            <p:txBody>
              <a:bodyPr anchor="ctr" rtlCol="false" tIns="50800" lIns="50800" bIns="50800" rIns="50800"/>
              <a:lstStyle/>
              <a:p>
                <a:pPr algn="ctr">
                  <a:lnSpc>
                    <a:spcPts val="2659"/>
                  </a:lnSpc>
                </a:pPr>
              </a:p>
            </p:txBody>
          </p:sp>
        </p:grpSp>
        <p:sp>
          <p:nvSpPr>
            <p:cNvPr name="TextBox 21" id="21"/>
            <p:cNvSpPr txBox="true"/>
            <p:nvPr/>
          </p:nvSpPr>
          <p:spPr>
            <a:xfrm rot="0">
              <a:off x="161198" y="909229"/>
              <a:ext cx="2302893" cy="1295980"/>
            </a:xfrm>
            <a:prstGeom prst="rect">
              <a:avLst/>
            </a:prstGeom>
          </p:spPr>
          <p:txBody>
            <a:bodyPr anchor="t" rtlCol="false" tIns="0" lIns="0" bIns="0" rIns="0">
              <a:spAutoFit/>
            </a:bodyPr>
            <a:lstStyle/>
            <a:p>
              <a:pPr algn="ctr">
                <a:lnSpc>
                  <a:spcPts val="8238"/>
                </a:lnSpc>
              </a:pPr>
              <a:r>
                <a:rPr lang="en-US" sz="5884">
                  <a:solidFill>
                    <a:srgbClr val="000000"/>
                  </a:solidFill>
                  <a:latin typeface="League Spartan"/>
                  <a:ea typeface="League Spartan"/>
                  <a:cs typeface="League Spartan"/>
                  <a:sym typeface="League Spartan"/>
                </a:rPr>
                <a:t>1</a:t>
              </a:r>
            </a:p>
          </p:txBody>
        </p:sp>
        <p:sp>
          <p:nvSpPr>
            <p:cNvPr name="TextBox 22" id="22"/>
            <p:cNvSpPr txBox="true"/>
            <p:nvPr/>
          </p:nvSpPr>
          <p:spPr>
            <a:xfrm rot="0">
              <a:off x="161198" y="3499085"/>
              <a:ext cx="2302893" cy="1295980"/>
            </a:xfrm>
            <a:prstGeom prst="rect">
              <a:avLst/>
            </a:prstGeom>
          </p:spPr>
          <p:txBody>
            <a:bodyPr anchor="t" rtlCol="false" tIns="0" lIns="0" bIns="0" rIns="0">
              <a:spAutoFit/>
            </a:bodyPr>
            <a:lstStyle/>
            <a:p>
              <a:pPr algn="ctr">
                <a:lnSpc>
                  <a:spcPts val="8238"/>
                </a:lnSpc>
              </a:pPr>
              <a:r>
                <a:rPr lang="en-US" b="true" sz="5884">
                  <a:solidFill>
                    <a:srgbClr val="000000"/>
                  </a:solidFill>
                  <a:latin typeface="League Spartan"/>
                  <a:ea typeface="League Spartan"/>
                  <a:cs typeface="League Spartan"/>
                  <a:sym typeface="League Spartan"/>
                </a:rPr>
                <a:t>2</a:t>
              </a:r>
            </a:p>
          </p:txBody>
        </p:sp>
        <p:sp>
          <p:nvSpPr>
            <p:cNvPr name="TextBox 23" id="23"/>
            <p:cNvSpPr txBox="true"/>
            <p:nvPr/>
          </p:nvSpPr>
          <p:spPr>
            <a:xfrm rot="0">
              <a:off x="161198" y="6097161"/>
              <a:ext cx="2302893" cy="1295980"/>
            </a:xfrm>
            <a:prstGeom prst="rect">
              <a:avLst/>
            </a:prstGeom>
          </p:spPr>
          <p:txBody>
            <a:bodyPr anchor="t" rtlCol="false" tIns="0" lIns="0" bIns="0" rIns="0">
              <a:spAutoFit/>
            </a:bodyPr>
            <a:lstStyle/>
            <a:p>
              <a:pPr algn="ctr">
                <a:lnSpc>
                  <a:spcPts val="8238"/>
                </a:lnSpc>
              </a:pPr>
              <a:r>
                <a:rPr lang="en-US" sz="5884">
                  <a:solidFill>
                    <a:srgbClr val="000000"/>
                  </a:solidFill>
                  <a:latin typeface="League Spartan"/>
                  <a:ea typeface="League Spartan"/>
                  <a:cs typeface="League Spartan"/>
                  <a:sym typeface="League Spartan"/>
                </a:rPr>
                <a:t>3</a:t>
              </a:r>
            </a:p>
          </p:txBody>
        </p:sp>
      </p:grpSp>
      <p:sp>
        <p:nvSpPr>
          <p:cNvPr name="TextBox 24" id="24"/>
          <p:cNvSpPr txBox="true"/>
          <p:nvPr/>
        </p:nvSpPr>
        <p:spPr>
          <a:xfrm rot="0">
            <a:off x="10566763" y="3996443"/>
            <a:ext cx="2661819" cy="733020"/>
          </a:xfrm>
          <a:prstGeom prst="rect">
            <a:avLst/>
          </a:prstGeom>
        </p:spPr>
        <p:txBody>
          <a:bodyPr anchor="t" rtlCol="false" tIns="0" lIns="0" bIns="0" rIns="0">
            <a:spAutoFit/>
          </a:bodyPr>
          <a:lstStyle/>
          <a:p>
            <a:pPr algn="l">
              <a:lnSpc>
                <a:spcPts val="5774"/>
              </a:lnSpc>
              <a:spcBef>
                <a:spcPct val="0"/>
              </a:spcBef>
            </a:pPr>
            <a:r>
              <a:rPr lang="en-US" sz="4124">
                <a:solidFill>
                  <a:srgbClr val="FFFFFF"/>
                </a:solidFill>
                <a:latin typeface="Poppins"/>
                <a:ea typeface="Poppins"/>
                <a:cs typeface="Poppins"/>
                <a:sym typeface="Poppins"/>
              </a:rPr>
              <a:t>Lebih rapi</a:t>
            </a:r>
          </a:p>
        </p:txBody>
      </p:sp>
      <p:sp>
        <p:nvSpPr>
          <p:cNvPr name="TextBox 25" id="25"/>
          <p:cNvSpPr txBox="true"/>
          <p:nvPr/>
        </p:nvSpPr>
        <p:spPr>
          <a:xfrm rot="0">
            <a:off x="10566763" y="5643719"/>
            <a:ext cx="5080706" cy="1331950"/>
          </a:xfrm>
          <a:prstGeom prst="rect">
            <a:avLst/>
          </a:prstGeom>
        </p:spPr>
        <p:txBody>
          <a:bodyPr anchor="t" rtlCol="false" tIns="0" lIns="0" bIns="0" rIns="0">
            <a:spAutoFit/>
          </a:bodyPr>
          <a:lstStyle/>
          <a:p>
            <a:pPr algn="l">
              <a:lnSpc>
                <a:spcPts val="5279"/>
              </a:lnSpc>
              <a:spcBef>
                <a:spcPct val="0"/>
              </a:spcBef>
            </a:pPr>
            <a:r>
              <a:rPr lang="en-US" sz="3770">
                <a:solidFill>
                  <a:srgbClr val="FFFFFF"/>
                </a:solidFill>
                <a:latin typeface="Poppins"/>
                <a:ea typeface="Poppins"/>
                <a:cs typeface="Poppins"/>
                <a:sym typeface="Poppins"/>
              </a:rPr>
              <a:t>Bisa dipakai banyak halaman</a:t>
            </a:r>
          </a:p>
        </p:txBody>
      </p:sp>
      <p:sp>
        <p:nvSpPr>
          <p:cNvPr name="TextBox 26" id="26"/>
          <p:cNvSpPr txBox="true"/>
          <p:nvPr/>
        </p:nvSpPr>
        <p:spPr>
          <a:xfrm rot="0">
            <a:off x="9915509" y="1930047"/>
            <a:ext cx="3313074" cy="759749"/>
          </a:xfrm>
          <a:prstGeom prst="rect">
            <a:avLst/>
          </a:prstGeom>
        </p:spPr>
        <p:txBody>
          <a:bodyPr anchor="t" rtlCol="false" tIns="0" lIns="0" bIns="0" rIns="0">
            <a:spAutoFit/>
          </a:bodyPr>
          <a:lstStyle/>
          <a:p>
            <a:pPr algn="l">
              <a:lnSpc>
                <a:spcPts val="5961"/>
              </a:lnSpc>
              <a:spcBef>
                <a:spcPct val="0"/>
              </a:spcBef>
            </a:pPr>
            <a:r>
              <a:rPr lang="en-US" sz="4258">
                <a:solidFill>
                  <a:srgbClr val="000000"/>
                </a:solidFill>
                <a:latin typeface="Poppins"/>
                <a:ea typeface="Poppins"/>
                <a:cs typeface="Poppins"/>
                <a:sym typeface="Poppins"/>
              </a:rPr>
              <a:t>Keunggulan</a:t>
            </a:r>
          </a:p>
        </p:txBody>
      </p:sp>
      <p:sp>
        <p:nvSpPr>
          <p:cNvPr name="TextBox 27" id="27"/>
          <p:cNvSpPr txBox="true"/>
          <p:nvPr/>
        </p:nvSpPr>
        <p:spPr>
          <a:xfrm rot="0">
            <a:off x="10566763" y="7880401"/>
            <a:ext cx="4471407" cy="713353"/>
          </a:xfrm>
          <a:prstGeom prst="rect">
            <a:avLst/>
          </a:prstGeom>
        </p:spPr>
        <p:txBody>
          <a:bodyPr anchor="t" rtlCol="false" tIns="0" lIns="0" bIns="0" rIns="0">
            <a:spAutoFit/>
          </a:bodyPr>
          <a:lstStyle/>
          <a:p>
            <a:pPr algn="l">
              <a:lnSpc>
                <a:spcPts val="5590"/>
              </a:lnSpc>
              <a:spcBef>
                <a:spcPct val="0"/>
              </a:spcBef>
            </a:pPr>
            <a:r>
              <a:rPr lang="en-US" sz="3993">
                <a:solidFill>
                  <a:srgbClr val="FFFFFF"/>
                </a:solidFill>
                <a:latin typeface="Poppins"/>
                <a:ea typeface="Poppins"/>
                <a:cs typeface="Poppins"/>
                <a:sym typeface="Poppins"/>
              </a:rPr>
              <a:t>Mudah dikelola</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482264" y="0"/>
            <a:ext cx="19271578" cy="10287000"/>
            <a:chOff x="0" y="0"/>
            <a:chExt cx="5075642" cy="2709333"/>
          </a:xfrm>
        </p:grpSpPr>
        <p:sp>
          <p:nvSpPr>
            <p:cNvPr name="Freeform 4" id="4"/>
            <p:cNvSpPr/>
            <p:nvPr/>
          </p:nvSpPr>
          <p:spPr>
            <a:xfrm flipH="false" flipV="false" rot="0">
              <a:off x="0" y="0"/>
              <a:ext cx="5075642" cy="2709333"/>
            </a:xfrm>
            <a:custGeom>
              <a:avLst/>
              <a:gdLst/>
              <a:ahLst/>
              <a:cxnLst/>
              <a:rect r="r" b="b" t="t" l="l"/>
              <a:pathLst>
                <a:path h="2709333" w="5075642">
                  <a:moveTo>
                    <a:pt x="0" y="0"/>
                  </a:moveTo>
                  <a:lnTo>
                    <a:pt x="5075642" y="0"/>
                  </a:lnTo>
                  <a:lnTo>
                    <a:pt x="5075642" y="2709333"/>
                  </a:lnTo>
                  <a:lnTo>
                    <a:pt x="0" y="2709333"/>
                  </a:lnTo>
                  <a:close/>
                </a:path>
              </a:pathLst>
            </a:custGeom>
            <a:solidFill>
              <a:srgbClr val="004AAD"/>
            </a:solidFill>
          </p:spPr>
        </p:sp>
        <p:sp>
          <p:nvSpPr>
            <p:cNvPr name="TextBox 5" id="5"/>
            <p:cNvSpPr txBox="true"/>
            <p:nvPr/>
          </p:nvSpPr>
          <p:spPr>
            <a:xfrm>
              <a:off x="0" y="-47625"/>
              <a:ext cx="5075642" cy="2756958"/>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667116" y="2959966"/>
            <a:ext cx="4067775" cy="3333316"/>
          </a:xfrm>
          <a:custGeom>
            <a:avLst/>
            <a:gdLst/>
            <a:ahLst/>
            <a:cxnLst/>
            <a:rect r="r" b="b" t="t" l="l"/>
            <a:pathLst>
              <a:path h="3333316" w="4067775">
                <a:moveTo>
                  <a:pt x="0" y="0"/>
                </a:moveTo>
                <a:lnTo>
                  <a:pt x="4067775" y="0"/>
                </a:lnTo>
                <a:lnTo>
                  <a:pt x="4067775" y="3333316"/>
                </a:lnTo>
                <a:lnTo>
                  <a:pt x="0" y="3333316"/>
                </a:lnTo>
                <a:lnTo>
                  <a:pt x="0" y="0"/>
                </a:lnTo>
                <a:close/>
              </a:path>
            </a:pathLst>
          </a:custGeom>
          <a:blipFill>
            <a:blip r:embed="rId3"/>
            <a:stretch>
              <a:fillRect l="0" t="0" r="0" b="0"/>
            </a:stretch>
          </a:blipFill>
        </p:spPr>
      </p:sp>
      <p:sp>
        <p:nvSpPr>
          <p:cNvPr name="TextBox 7" id="7"/>
          <p:cNvSpPr txBox="true"/>
          <p:nvPr/>
        </p:nvSpPr>
        <p:spPr>
          <a:xfrm rot="0">
            <a:off x="6586996" y="942975"/>
            <a:ext cx="5114007" cy="794805"/>
          </a:xfrm>
          <a:prstGeom prst="rect">
            <a:avLst/>
          </a:prstGeom>
        </p:spPr>
        <p:txBody>
          <a:bodyPr anchor="t" rtlCol="false" tIns="0" lIns="0" bIns="0" rIns="0">
            <a:spAutoFit/>
          </a:bodyPr>
          <a:lstStyle/>
          <a:p>
            <a:pPr algn="l">
              <a:lnSpc>
                <a:spcPts val="6591"/>
              </a:lnSpc>
            </a:pPr>
            <a:r>
              <a:rPr lang="en-US" sz="4708">
                <a:solidFill>
                  <a:srgbClr val="FFFFFF"/>
                </a:solidFill>
                <a:latin typeface="League Spartan"/>
                <a:ea typeface="League Spartan"/>
                <a:cs typeface="League Spartan"/>
                <a:sym typeface="League Spartan"/>
              </a:rPr>
              <a:t>STRUKTUR CSS</a:t>
            </a:r>
          </a:p>
        </p:txBody>
      </p:sp>
      <p:sp>
        <p:nvSpPr>
          <p:cNvPr name="TextBox 8" id="8"/>
          <p:cNvSpPr txBox="true"/>
          <p:nvPr/>
        </p:nvSpPr>
        <p:spPr>
          <a:xfrm rot="0">
            <a:off x="1286884" y="2845666"/>
            <a:ext cx="5920110" cy="5603703"/>
          </a:xfrm>
          <a:prstGeom prst="rect">
            <a:avLst/>
          </a:prstGeom>
        </p:spPr>
        <p:txBody>
          <a:bodyPr anchor="t" rtlCol="false" tIns="0" lIns="0" bIns="0" rIns="0">
            <a:spAutoFit/>
          </a:bodyPr>
          <a:lstStyle/>
          <a:p>
            <a:pPr algn="l">
              <a:lnSpc>
                <a:spcPts val="5554"/>
              </a:lnSpc>
            </a:pPr>
            <a:r>
              <a:rPr lang="en-US" sz="3967">
                <a:solidFill>
                  <a:srgbClr val="FFFFFF"/>
                </a:solidFill>
                <a:latin typeface="Poppins"/>
                <a:ea typeface="Poppins"/>
                <a:cs typeface="Poppins"/>
                <a:sym typeface="Poppins"/>
              </a:rPr>
              <a:t>CSS memiliki struktur dasar:</a:t>
            </a:r>
          </a:p>
          <a:p>
            <a:pPr algn="l">
              <a:lnSpc>
                <a:spcPts val="5554"/>
              </a:lnSpc>
            </a:pPr>
            <a:r>
              <a:rPr lang="en-US" sz="3967">
                <a:solidFill>
                  <a:srgbClr val="FFFFFF"/>
                </a:solidFill>
                <a:latin typeface="Poppins"/>
                <a:ea typeface="Poppins"/>
                <a:cs typeface="Poppins"/>
                <a:sym typeface="Poppins"/>
              </a:rPr>
              <a:t>Komponen:</a:t>
            </a:r>
          </a:p>
          <a:p>
            <a:pPr algn="l" marL="856603" indent="-428301" lvl="1">
              <a:lnSpc>
                <a:spcPts val="5554"/>
              </a:lnSpc>
              <a:buFont typeface="Arial"/>
              <a:buChar char="•"/>
            </a:pPr>
            <a:r>
              <a:rPr lang="en-US" sz="3967">
                <a:solidFill>
                  <a:srgbClr val="FFFFFF"/>
                </a:solidFill>
                <a:latin typeface="Poppins"/>
                <a:ea typeface="Poppins"/>
                <a:cs typeface="Poppins"/>
                <a:sym typeface="Poppins"/>
              </a:rPr>
              <a:t>Selector → memilih e</a:t>
            </a:r>
            <a:r>
              <a:rPr lang="en-US" sz="3967">
                <a:solidFill>
                  <a:srgbClr val="FFFFFF"/>
                </a:solidFill>
                <a:latin typeface="Poppins"/>
                <a:ea typeface="Poppins"/>
                <a:cs typeface="Poppins"/>
                <a:sym typeface="Poppins"/>
              </a:rPr>
              <a:t>le</a:t>
            </a:r>
            <a:r>
              <a:rPr lang="en-US" sz="3967">
                <a:solidFill>
                  <a:srgbClr val="FFFFFF"/>
                </a:solidFill>
                <a:latin typeface="Poppins"/>
                <a:ea typeface="Poppins"/>
                <a:cs typeface="Poppins"/>
                <a:sym typeface="Poppins"/>
              </a:rPr>
              <a:t>men</a:t>
            </a:r>
          </a:p>
          <a:p>
            <a:pPr algn="l" marL="856603" indent="-428301" lvl="1">
              <a:lnSpc>
                <a:spcPts val="5554"/>
              </a:lnSpc>
              <a:buFont typeface="Arial"/>
              <a:buChar char="•"/>
            </a:pPr>
            <a:r>
              <a:rPr lang="en-US" sz="3967">
                <a:solidFill>
                  <a:srgbClr val="FFFFFF"/>
                </a:solidFill>
                <a:latin typeface="Poppins"/>
                <a:ea typeface="Poppins"/>
                <a:cs typeface="Poppins"/>
                <a:sym typeface="Poppins"/>
              </a:rPr>
              <a:t>Property → jenis style</a:t>
            </a:r>
          </a:p>
          <a:p>
            <a:pPr algn="l" marL="856603" indent="-428301" lvl="1">
              <a:lnSpc>
                <a:spcPts val="5554"/>
              </a:lnSpc>
              <a:spcBef>
                <a:spcPct val="0"/>
              </a:spcBef>
              <a:buFont typeface="Arial"/>
              <a:buChar char="•"/>
            </a:pPr>
            <a:r>
              <a:rPr lang="en-US" sz="3967">
                <a:solidFill>
                  <a:srgbClr val="FFFFFF"/>
                </a:solidFill>
                <a:latin typeface="Poppins"/>
                <a:ea typeface="Poppins"/>
                <a:cs typeface="Poppins"/>
                <a:sym typeface="Poppins"/>
              </a:rPr>
              <a:t>Value → nilai style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60313" y="2608904"/>
            <a:ext cx="15967374" cy="6649396"/>
            <a:chOff x="0" y="0"/>
            <a:chExt cx="4205399" cy="1751281"/>
          </a:xfrm>
        </p:grpSpPr>
        <p:sp>
          <p:nvSpPr>
            <p:cNvPr name="Freeform 4" id="4"/>
            <p:cNvSpPr/>
            <p:nvPr/>
          </p:nvSpPr>
          <p:spPr>
            <a:xfrm flipH="false" flipV="false" rot="0">
              <a:off x="0" y="0"/>
              <a:ext cx="4205399" cy="1751281"/>
            </a:xfrm>
            <a:custGeom>
              <a:avLst/>
              <a:gdLst/>
              <a:ahLst/>
              <a:cxnLst/>
              <a:rect r="r" b="b" t="t" l="l"/>
              <a:pathLst>
                <a:path h="1751281" w="4205399">
                  <a:moveTo>
                    <a:pt x="24728" y="0"/>
                  </a:moveTo>
                  <a:lnTo>
                    <a:pt x="4180671" y="0"/>
                  </a:lnTo>
                  <a:cubicBezTo>
                    <a:pt x="4194328" y="0"/>
                    <a:pt x="4205399" y="11071"/>
                    <a:pt x="4205399" y="24728"/>
                  </a:cubicBezTo>
                  <a:lnTo>
                    <a:pt x="4205399" y="1726554"/>
                  </a:lnTo>
                  <a:cubicBezTo>
                    <a:pt x="4205399" y="1733112"/>
                    <a:pt x="4202793" y="1739401"/>
                    <a:pt x="4198156" y="1744039"/>
                  </a:cubicBezTo>
                  <a:cubicBezTo>
                    <a:pt x="4193519" y="1748676"/>
                    <a:pt x="4187229" y="1751281"/>
                    <a:pt x="4180671" y="1751281"/>
                  </a:cubicBezTo>
                  <a:lnTo>
                    <a:pt x="24728" y="1751281"/>
                  </a:lnTo>
                  <a:cubicBezTo>
                    <a:pt x="18170" y="1751281"/>
                    <a:pt x="11880" y="1748676"/>
                    <a:pt x="7243" y="1744039"/>
                  </a:cubicBezTo>
                  <a:cubicBezTo>
                    <a:pt x="2605" y="1739401"/>
                    <a:pt x="0" y="1733112"/>
                    <a:pt x="0" y="1726554"/>
                  </a:cubicBezTo>
                  <a:lnTo>
                    <a:pt x="0" y="24728"/>
                  </a:lnTo>
                  <a:cubicBezTo>
                    <a:pt x="0" y="18170"/>
                    <a:pt x="2605" y="11880"/>
                    <a:pt x="7243" y="7243"/>
                  </a:cubicBezTo>
                  <a:cubicBezTo>
                    <a:pt x="11880" y="2605"/>
                    <a:pt x="18170" y="0"/>
                    <a:pt x="24728" y="0"/>
                  </a:cubicBezTo>
                  <a:close/>
                </a:path>
              </a:pathLst>
            </a:custGeom>
            <a:solidFill>
              <a:srgbClr val="004AAD"/>
            </a:solidFill>
          </p:spPr>
        </p:sp>
        <p:sp>
          <p:nvSpPr>
            <p:cNvPr name="TextBox 5" id="5"/>
            <p:cNvSpPr txBox="true"/>
            <p:nvPr/>
          </p:nvSpPr>
          <p:spPr>
            <a:xfrm>
              <a:off x="0" y="-47625"/>
              <a:ext cx="4205399" cy="1798906"/>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133188" y="895350"/>
            <a:ext cx="8021623" cy="1236184"/>
          </a:xfrm>
          <a:prstGeom prst="rect">
            <a:avLst/>
          </a:prstGeom>
        </p:spPr>
        <p:txBody>
          <a:bodyPr anchor="t" rtlCol="false" tIns="0" lIns="0" bIns="0" rIns="0">
            <a:spAutoFit/>
          </a:bodyPr>
          <a:lstStyle/>
          <a:p>
            <a:pPr algn="ctr">
              <a:lnSpc>
                <a:spcPts val="10153"/>
              </a:lnSpc>
            </a:pPr>
            <a:r>
              <a:rPr lang="en-US" sz="7252">
                <a:solidFill>
                  <a:srgbClr val="004AAD"/>
                </a:solidFill>
                <a:latin typeface="League Spartan"/>
                <a:ea typeface="League Spartan"/>
                <a:cs typeface="League Spartan"/>
                <a:sym typeface="League Spartan"/>
              </a:rPr>
              <a:t>SELECTOR CSS</a:t>
            </a:r>
          </a:p>
        </p:txBody>
      </p:sp>
      <p:sp>
        <p:nvSpPr>
          <p:cNvPr name="TextBox 7" id="7"/>
          <p:cNvSpPr txBox="true"/>
          <p:nvPr/>
        </p:nvSpPr>
        <p:spPr>
          <a:xfrm rot="0">
            <a:off x="2290990" y="4015316"/>
            <a:ext cx="13706021" cy="3722272"/>
          </a:xfrm>
          <a:prstGeom prst="rect">
            <a:avLst/>
          </a:prstGeom>
        </p:spPr>
        <p:txBody>
          <a:bodyPr anchor="t" rtlCol="false" tIns="0" lIns="0" bIns="0" rIns="0">
            <a:spAutoFit/>
          </a:bodyPr>
          <a:lstStyle/>
          <a:p>
            <a:pPr algn="ctr">
              <a:lnSpc>
                <a:spcPts val="5885"/>
              </a:lnSpc>
              <a:spcBef>
                <a:spcPct val="0"/>
              </a:spcBef>
            </a:pPr>
            <a:r>
              <a:rPr lang="en-US" sz="4203">
                <a:solidFill>
                  <a:srgbClr val="E5E5E5"/>
                </a:solidFill>
                <a:latin typeface="Poppins"/>
                <a:ea typeface="Poppins"/>
                <a:cs typeface="Poppins"/>
                <a:sym typeface="Poppins"/>
              </a:rPr>
              <a:t>S</a:t>
            </a:r>
            <a:r>
              <a:rPr lang="en-US" sz="4203">
                <a:solidFill>
                  <a:srgbClr val="E5E5E5"/>
                </a:solidFill>
                <a:latin typeface="Poppins"/>
                <a:ea typeface="Poppins"/>
                <a:cs typeface="Poppins"/>
                <a:sym typeface="Poppins"/>
              </a:rPr>
              <a:t>elector adalah bagian penting dalam CSS yang digunakan untuk memilih elemen HTML tertentu yang ingin diberi gaya. Tanpa selector, CSS tidak dapat menentukan elemen mana yang akan diubah tampilannya.</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482264" y="0"/>
            <a:ext cx="19271578" cy="10287000"/>
            <a:chOff x="0" y="0"/>
            <a:chExt cx="5075642" cy="2709333"/>
          </a:xfrm>
        </p:grpSpPr>
        <p:sp>
          <p:nvSpPr>
            <p:cNvPr name="Freeform 4" id="4"/>
            <p:cNvSpPr/>
            <p:nvPr/>
          </p:nvSpPr>
          <p:spPr>
            <a:xfrm flipH="false" flipV="false" rot="0">
              <a:off x="0" y="0"/>
              <a:ext cx="5075642" cy="2709333"/>
            </a:xfrm>
            <a:custGeom>
              <a:avLst/>
              <a:gdLst/>
              <a:ahLst/>
              <a:cxnLst/>
              <a:rect r="r" b="b" t="t" l="l"/>
              <a:pathLst>
                <a:path h="2709333" w="5075642">
                  <a:moveTo>
                    <a:pt x="0" y="0"/>
                  </a:moveTo>
                  <a:lnTo>
                    <a:pt x="5075642" y="0"/>
                  </a:lnTo>
                  <a:lnTo>
                    <a:pt x="5075642" y="2709333"/>
                  </a:lnTo>
                  <a:lnTo>
                    <a:pt x="0" y="2709333"/>
                  </a:lnTo>
                  <a:close/>
                </a:path>
              </a:pathLst>
            </a:custGeom>
            <a:solidFill>
              <a:srgbClr val="004AAD"/>
            </a:solidFill>
          </p:spPr>
        </p:sp>
        <p:sp>
          <p:nvSpPr>
            <p:cNvPr name="TextBox 5" id="5"/>
            <p:cNvSpPr txBox="true"/>
            <p:nvPr/>
          </p:nvSpPr>
          <p:spPr>
            <a:xfrm>
              <a:off x="0" y="-47625"/>
              <a:ext cx="5075642" cy="2756958"/>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845854" y="1476430"/>
            <a:ext cx="6596292" cy="1000532"/>
          </a:xfrm>
          <a:prstGeom prst="rect">
            <a:avLst/>
          </a:prstGeom>
        </p:spPr>
        <p:txBody>
          <a:bodyPr anchor="t" rtlCol="false" tIns="0" lIns="0" bIns="0" rIns="0">
            <a:spAutoFit/>
          </a:bodyPr>
          <a:lstStyle/>
          <a:p>
            <a:pPr algn="l">
              <a:lnSpc>
                <a:spcPts val="8238"/>
              </a:lnSpc>
            </a:pPr>
            <a:r>
              <a:rPr lang="en-US" b="true" sz="5884">
                <a:solidFill>
                  <a:srgbClr val="FFFFFF"/>
                </a:solidFill>
                <a:latin typeface="League Spartan"/>
                <a:ea typeface="League Spartan"/>
                <a:cs typeface="League Spartan"/>
                <a:sym typeface="League Spartan"/>
              </a:rPr>
              <a:t>JENIS SELECTOR</a:t>
            </a:r>
          </a:p>
        </p:txBody>
      </p:sp>
      <p:sp>
        <p:nvSpPr>
          <p:cNvPr name="TextBox 7" id="7"/>
          <p:cNvSpPr txBox="true"/>
          <p:nvPr/>
        </p:nvSpPr>
        <p:spPr>
          <a:xfrm rot="0">
            <a:off x="2964990" y="3657863"/>
            <a:ext cx="12358020" cy="4698236"/>
          </a:xfrm>
          <a:prstGeom prst="rect">
            <a:avLst/>
          </a:prstGeom>
        </p:spPr>
        <p:txBody>
          <a:bodyPr anchor="t" rtlCol="false" tIns="0" lIns="0" bIns="0" rIns="0">
            <a:spAutoFit/>
          </a:bodyPr>
          <a:lstStyle/>
          <a:p>
            <a:pPr algn="l">
              <a:lnSpc>
                <a:spcPts val="6167"/>
              </a:lnSpc>
            </a:pPr>
            <a:r>
              <a:rPr lang="en-US" sz="4405">
                <a:solidFill>
                  <a:srgbClr val="FFFFFF"/>
                </a:solidFill>
                <a:latin typeface="Poppins"/>
                <a:ea typeface="Poppins"/>
                <a:cs typeface="Poppins"/>
                <a:sym typeface="Poppins"/>
              </a:rPr>
              <a:t>CSS memiliki beberapa selector utama:</a:t>
            </a:r>
          </a:p>
          <a:p>
            <a:pPr algn="l">
              <a:lnSpc>
                <a:spcPts val="6167"/>
              </a:lnSpc>
            </a:pPr>
            <a:r>
              <a:rPr lang="en-US" sz="4405">
                <a:solidFill>
                  <a:srgbClr val="FFFFFF"/>
                </a:solidFill>
                <a:latin typeface="Poppins"/>
                <a:ea typeface="Poppins"/>
                <a:cs typeface="Poppins"/>
                <a:sym typeface="Poppins"/>
              </a:rPr>
              <a:t>Jenis:</a:t>
            </a:r>
          </a:p>
          <a:p>
            <a:pPr algn="l" marL="951057" indent="-475528" lvl="1">
              <a:lnSpc>
                <a:spcPts val="6167"/>
              </a:lnSpc>
              <a:buFont typeface="Arial"/>
              <a:buChar char="•"/>
            </a:pPr>
            <a:r>
              <a:rPr lang="en-US" sz="4405">
                <a:solidFill>
                  <a:srgbClr val="FFFFFF"/>
                </a:solidFill>
                <a:latin typeface="Poppins"/>
                <a:ea typeface="Poppins"/>
                <a:cs typeface="Poppins"/>
                <a:sym typeface="Poppins"/>
              </a:rPr>
              <a:t>Element selector</a:t>
            </a:r>
          </a:p>
          <a:p>
            <a:pPr algn="l" marL="951057" indent="-475528" lvl="1">
              <a:lnSpc>
                <a:spcPts val="6167"/>
              </a:lnSpc>
              <a:buFont typeface="Arial"/>
              <a:buChar char="•"/>
            </a:pPr>
            <a:r>
              <a:rPr lang="en-US" sz="4405">
                <a:solidFill>
                  <a:srgbClr val="FFFFFF"/>
                </a:solidFill>
                <a:latin typeface="Poppins"/>
                <a:ea typeface="Poppins"/>
                <a:cs typeface="Poppins"/>
                <a:sym typeface="Poppins"/>
              </a:rPr>
              <a:t>Class selector</a:t>
            </a:r>
          </a:p>
          <a:p>
            <a:pPr algn="l" marL="951057" indent="-475528" lvl="1">
              <a:lnSpc>
                <a:spcPts val="6167"/>
              </a:lnSpc>
              <a:buFont typeface="Arial"/>
              <a:buChar char="•"/>
            </a:pPr>
            <a:r>
              <a:rPr lang="en-US" sz="4405">
                <a:solidFill>
                  <a:srgbClr val="FFFFFF"/>
                </a:solidFill>
                <a:latin typeface="Poppins"/>
                <a:ea typeface="Poppins"/>
                <a:cs typeface="Poppins"/>
                <a:sym typeface="Poppins"/>
              </a:rPr>
              <a:t>ID selector</a:t>
            </a:r>
          </a:p>
          <a:p>
            <a:pPr algn="l" marL="951057" indent="-475528" lvl="1">
              <a:lnSpc>
                <a:spcPts val="6167"/>
              </a:lnSpc>
              <a:spcBef>
                <a:spcPct val="0"/>
              </a:spcBef>
              <a:buFont typeface="Arial"/>
              <a:buChar char="•"/>
            </a:pPr>
            <a:r>
              <a:rPr lang="en-US" sz="4405">
                <a:solidFill>
                  <a:srgbClr val="FFFFFF"/>
                </a:solidFill>
                <a:latin typeface="Poppins"/>
                <a:ea typeface="Poppins"/>
                <a:cs typeface="Poppins"/>
                <a:sym typeface="Poppins"/>
              </a:rPr>
              <a:t>Universal selector</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482264" y="0"/>
            <a:ext cx="19271578" cy="10287000"/>
            <a:chOff x="0" y="0"/>
            <a:chExt cx="5075642" cy="2709333"/>
          </a:xfrm>
        </p:grpSpPr>
        <p:sp>
          <p:nvSpPr>
            <p:cNvPr name="Freeform 4" id="4"/>
            <p:cNvSpPr/>
            <p:nvPr/>
          </p:nvSpPr>
          <p:spPr>
            <a:xfrm flipH="false" flipV="false" rot="0">
              <a:off x="0" y="0"/>
              <a:ext cx="5075642" cy="2709333"/>
            </a:xfrm>
            <a:custGeom>
              <a:avLst/>
              <a:gdLst/>
              <a:ahLst/>
              <a:cxnLst/>
              <a:rect r="r" b="b" t="t" l="l"/>
              <a:pathLst>
                <a:path h="2709333" w="5075642">
                  <a:moveTo>
                    <a:pt x="0" y="0"/>
                  </a:moveTo>
                  <a:lnTo>
                    <a:pt x="5075642" y="0"/>
                  </a:lnTo>
                  <a:lnTo>
                    <a:pt x="5075642" y="2709333"/>
                  </a:lnTo>
                  <a:lnTo>
                    <a:pt x="0" y="2709333"/>
                  </a:lnTo>
                  <a:close/>
                </a:path>
              </a:pathLst>
            </a:custGeom>
            <a:solidFill>
              <a:srgbClr val="004AAD"/>
            </a:solidFill>
          </p:spPr>
        </p:sp>
        <p:sp>
          <p:nvSpPr>
            <p:cNvPr name="TextBox 5" id="5"/>
            <p:cNvSpPr txBox="true"/>
            <p:nvPr/>
          </p:nvSpPr>
          <p:spPr>
            <a:xfrm>
              <a:off x="0" y="-47625"/>
              <a:ext cx="5075642" cy="2756958"/>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1645034" y="3122995"/>
            <a:ext cx="10917034" cy="3917186"/>
          </a:xfrm>
          <a:prstGeom prst="rect">
            <a:avLst/>
          </a:prstGeom>
        </p:spPr>
        <p:txBody>
          <a:bodyPr anchor="t" rtlCol="false" tIns="0" lIns="0" bIns="0" rIns="0">
            <a:spAutoFit/>
          </a:bodyPr>
          <a:lstStyle/>
          <a:p>
            <a:pPr algn="l">
              <a:lnSpc>
                <a:spcPts val="6167"/>
              </a:lnSpc>
            </a:pPr>
            <a:r>
              <a:rPr lang="en-US" sz="4405">
                <a:solidFill>
                  <a:srgbClr val="FFFFFF"/>
                </a:solidFill>
                <a:latin typeface="Poppins"/>
                <a:ea typeface="Poppins"/>
                <a:cs typeface="Poppins"/>
                <a:sym typeface="Poppins"/>
              </a:rPr>
              <a:t>Class selector menggunakan tanda .</a:t>
            </a:r>
          </a:p>
          <a:p>
            <a:pPr algn="l">
              <a:lnSpc>
                <a:spcPts val="6167"/>
              </a:lnSpc>
            </a:pPr>
            <a:r>
              <a:rPr lang="en-US" sz="4405">
                <a:solidFill>
                  <a:srgbClr val="FFFFFF"/>
                </a:solidFill>
                <a:latin typeface="Poppins"/>
                <a:ea typeface="Poppins"/>
                <a:cs typeface="Poppins"/>
                <a:sym typeface="Poppins"/>
              </a:rPr>
              <a:t>Ciri-ciri:</a:t>
            </a:r>
          </a:p>
          <a:p>
            <a:pPr algn="l" marL="951057" indent="-475528" lvl="1">
              <a:lnSpc>
                <a:spcPts val="6167"/>
              </a:lnSpc>
              <a:buFont typeface="Arial"/>
              <a:buChar char="•"/>
            </a:pPr>
            <a:r>
              <a:rPr lang="en-US" sz="4405">
                <a:solidFill>
                  <a:srgbClr val="FFFFFF"/>
                </a:solidFill>
                <a:latin typeface="Poppins"/>
                <a:ea typeface="Poppins"/>
                <a:cs typeface="Poppins"/>
                <a:sym typeface="Poppins"/>
              </a:rPr>
              <a:t>Bisa dipakai banyak elemen</a:t>
            </a:r>
          </a:p>
          <a:p>
            <a:pPr algn="l" marL="951057" indent="-475528" lvl="1">
              <a:lnSpc>
                <a:spcPts val="6167"/>
              </a:lnSpc>
              <a:buFont typeface="Arial"/>
              <a:buChar char="•"/>
            </a:pPr>
            <a:r>
              <a:rPr lang="en-US" sz="4405">
                <a:solidFill>
                  <a:srgbClr val="FFFFFF"/>
                </a:solidFill>
                <a:latin typeface="Poppins"/>
                <a:ea typeface="Poppins"/>
                <a:cs typeface="Poppins"/>
                <a:sym typeface="Poppins"/>
              </a:rPr>
              <a:t>Fleksibel</a:t>
            </a:r>
          </a:p>
          <a:p>
            <a:pPr algn="l" marL="951057" indent="-475528" lvl="1">
              <a:lnSpc>
                <a:spcPts val="6167"/>
              </a:lnSpc>
              <a:spcBef>
                <a:spcPct val="0"/>
              </a:spcBef>
              <a:buFont typeface="Arial"/>
              <a:buChar char="•"/>
            </a:pPr>
            <a:r>
              <a:rPr lang="en-US" sz="4405">
                <a:solidFill>
                  <a:srgbClr val="FFFFFF"/>
                </a:solidFill>
                <a:latin typeface="Poppins"/>
                <a:ea typeface="Poppins"/>
                <a:cs typeface="Poppins"/>
                <a:sym typeface="Poppins"/>
              </a:rPr>
              <a:t>Sering digunakan</a:t>
            </a:r>
          </a:p>
        </p:txBody>
      </p:sp>
      <p:sp>
        <p:nvSpPr>
          <p:cNvPr name="Freeform 7" id="7"/>
          <p:cNvSpPr/>
          <p:nvPr/>
        </p:nvSpPr>
        <p:spPr>
          <a:xfrm flipH="false" flipV="false" rot="0">
            <a:off x="2828744" y="7314580"/>
            <a:ext cx="3875008" cy="2652690"/>
          </a:xfrm>
          <a:custGeom>
            <a:avLst/>
            <a:gdLst/>
            <a:ahLst/>
            <a:cxnLst/>
            <a:rect r="r" b="b" t="t" l="l"/>
            <a:pathLst>
              <a:path h="2652690" w="3875008">
                <a:moveTo>
                  <a:pt x="0" y="0"/>
                </a:moveTo>
                <a:lnTo>
                  <a:pt x="3875008" y="0"/>
                </a:lnTo>
                <a:lnTo>
                  <a:pt x="3875008" y="2652690"/>
                </a:lnTo>
                <a:lnTo>
                  <a:pt x="0" y="2652690"/>
                </a:lnTo>
                <a:lnTo>
                  <a:pt x="0" y="0"/>
                </a:lnTo>
                <a:close/>
              </a:path>
            </a:pathLst>
          </a:custGeom>
          <a:blipFill>
            <a:blip r:embed="rId3"/>
            <a:stretch>
              <a:fillRect l="0" t="0" r="0" b="0"/>
            </a:stretch>
          </a:blipFill>
        </p:spPr>
      </p:sp>
      <p:sp>
        <p:nvSpPr>
          <p:cNvPr name="TextBox 8" id="8"/>
          <p:cNvSpPr txBox="true"/>
          <p:nvPr/>
        </p:nvSpPr>
        <p:spPr>
          <a:xfrm rot="0">
            <a:off x="6703752" y="1282856"/>
            <a:ext cx="5858315" cy="855023"/>
          </a:xfrm>
          <a:prstGeom prst="rect">
            <a:avLst/>
          </a:prstGeom>
        </p:spPr>
        <p:txBody>
          <a:bodyPr anchor="t" rtlCol="false" tIns="0" lIns="0" bIns="0" rIns="0">
            <a:spAutoFit/>
          </a:bodyPr>
          <a:lstStyle/>
          <a:p>
            <a:pPr algn="l">
              <a:lnSpc>
                <a:spcPts val="7063"/>
              </a:lnSpc>
            </a:pPr>
            <a:r>
              <a:rPr lang="en-US" sz="5045">
                <a:solidFill>
                  <a:srgbClr val="FFFFFF"/>
                </a:solidFill>
                <a:latin typeface="League Spartan"/>
                <a:ea typeface="League Spartan"/>
                <a:cs typeface="League Spartan"/>
                <a:sym typeface="League Spartan"/>
              </a:rPr>
              <a:t>CLASS SELECTOR</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491789" y="0"/>
            <a:ext cx="19271578" cy="10287000"/>
            <a:chOff x="0" y="0"/>
            <a:chExt cx="5075642" cy="2709333"/>
          </a:xfrm>
        </p:grpSpPr>
        <p:sp>
          <p:nvSpPr>
            <p:cNvPr name="Freeform 4" id="4"/>
            <p:cNvSpPr/>
            <p:nvPr/>
          </p:nvSpPr>
          <p:spPr>
            <a:xfrm flipH="false" flipV="false" rot="0">
              <a:off x="0" y="0"/>
              <a:ext cx="5075642" cy="2709333"/>
            </a:xfrm>
            <a:custGeom>
              <a:avLst/>
              <a:gdLst/>
              <a:ahLst/>
              <a:cxnLst/>
              <a:rect r="r" b="b" t="t" l="l"/>
              <a:pathLst>
                <a:path h="2709333" w="5075642">
                  <a:moveTo>
                    <a:pt x="0" y="0"/>
                  </a:moveTo>
                  <a:lnTo>
                    <a:pt x="5075642" y="0"/>
                  </a:lnTo>
                  <a:lnTo>
                    <a:pt x="5075642" y="2709333"/>
                  </a:lnTo>
                  <a:lnTo>
                    <a:pt x="0" y="2709333"/>
                  </a:lnTo>
                  <a:close/>
                </a:path>
              </a:pathLst>
            </a:custGeom>
            <a:solidFill>
              <a:srgbClr val="004AAD"/>
            </a:solidFill>
          </p:spPr>
        </p:sp>
        <p:sp>
          <p:nvSpPr>
            <p:cNvPr name="TextBox 5" id="5"/>
            <p:cNvSpPr txBox="true"/>
            <p:nvPr/>
          </p:nvSpPr>
          <p:spPr>
            <a:xfrm>
              <a:off x="0" y="-47625"/>
              <a:ext cx="5075642" cy="2756958"/>
            </a:xfrm>
            <a:prstGeom prst="rect">
              <a:avLst/>
            </a:prstGeom>
          </p:spPr>
          <p:txBody>
            <a:bodyPr anchor="ctr" rtlCol="false" tIns="50800" lIns="50800" bIns="50800" rIns="50800"/>
            <a:lstStyle/>
            <a:p>
              <a:pPr algn="ctr">
                <a:lnSpc>
                  <a:spcPts val="2659"/>
                </a:lnSpc>
              </a:pPr>
            </a:p>
          </p:txBody>
        </p:sp>
      </p:grpSp>
      <p:sp>
        <p:nvSpPr>
          <p:cNvPr name="Freeform 6" id="6"/>
          <p:cNvSpPr/>
          <p:nvPr/>
        </p:nvSpPr>
        <p:spPr>
          <a:xfrm flipH="false" flipV="false" rot="0">
            <a:off x="9671994" y="3072583"/>
            <a:ext cx="5771007" cy="3443474"/>
          </a:xfrm>
          <a:custGeom>
            <a:avLst/>
            <a:gdLst/>
            <a:ahLst/>
            <a:cxnLst/>
            <a:rect r="r" b="b" t="t" l="l"/>
            <a:pathLst>
              <a:path h="3443474" w="5771007">
                <a:moveTo>
                  <a:pt x="0" y="0"/>
                </a:moveTo>
                <a:lnTo>
                  <a:pt x="5771007" y="0"/>
                </a:lnTo>
                <a:lnTo>
                  <a:pt x="5771007" y="3443474"/>
                </a:lnTo>
                <a:lnTo>
                  <a:pt x="0" y="3443474"/>
                </a:lnTo>
                <a:lnTo>
                  <a:pt x="0" y="0"/>
                </a:lnTo>
                <a:close/>
              </a:path>
            </a:pathLst>
          </a:custGeom>
          <a:blipFill>
            <a:blip r:embed="rId3"/>
            <a:stretch>
              <a:fillRect l="0" t="0" r="0" b="0"/>
            </a:stretch>
          </a:blipFill>
        </p:spPr>
      </p:sp>
      <p:sp>
        <p:nvSpPr>
          <p:cNvPr name="TextBox 7" id="7"/>
          <p:cNvSpPr txBox="true"/>
          <p:nvPr/>
        </p:nvSpPr>
        <p:spPr>
          <a:xfrm rot="0">
            <a:off x="6510551" y="923925"/>
            <a:ext cx="5266897" cy="952140"/>
          </a:xfrm>
          <a:prstGeom prst="rect">
            <a:avLst/>
          </a:prstGeom>
        </p:spPr>
        <p:txBody>
          <a:bodyPr anchor="t" rtlCol="false" tIns="0" lIns="0" bIns="0" rIns="0">
            <a:spAutoFit/>
          </a:bodyPr>
          <a:lstStyle/>
          <a:p>
            <a:pPr algn="l">
              <a:lnSpc>
                <a:spcPts val="7877"/>
              </a:lnSpc>
            </a:pPr>
            <a:r>
              <a:rPr lang="en-US" sz="5626">
                <a:solidFill>
                  <a:srgbClr val="FFFFFF"/>
                </a:solidFill>
                <a:latin typeface="League Spartan"/>
                <a:ea typeface="League Spartan"/>
                <a:cs typeface="League Spartan"/>
                <a:sym typeface="League Spartan"/>
              </a:rPr>
              <a:t>ID SELECTOR</a:t>
            </a:r>
          </a:p>
        </p:txBody>
      </p:sp>
      <p:sp>
        <p:nvSpPr>
          <p:cNvPr name="TextBox 8" id="8"/>
          <p:cNvSpPr txBox="true"/>
          <p:nvPr/>
        </p:nvSpPr>
        <p:spPr>
          <a:xfrm rot="0">
            <a:off x="2489414" y="2558266"/>
            <a:ext cx="4717579" cy="7001248"/>
          </a:xfrm>
          <a:prstGeom prst="rect">
            <a:avLst/>
          </a:prstGeom>
        </p:spPr>
        <p:txBody>
          <a:bodyPr anchor="t" rtlCol="false" tIns="0" lIns="0" bIns="0" rIns="0">
            <a:spAutoFit/>
          </a:bodyPr>
          <a:lstStyle/>
          <a:p>
            <a:pPr algn="l">
              <a:lnSpc>
                <a:spcPts val="5554"/>
              </a:lnSpc>
            </a:pPr>
            <a:r>
              <a:rPr lang="en-US" sz="3967">
                <a:solidFill>
                  <a:srgbClr val="FFFFFF"/>
                </a:solidFill>
                <a:latin typeface="Poppins"/>
                <a:ea typeface="Poppins"/>
                <a:cs typeface="Poppins"/>
                <a:sym typeface="Poppins"/>
              </a:rPr>
              <a:t>ID selector menggunakan tanda #</a:t>
            </a:r>
          </a:p>
          <a:p>
            <a:pPr algn="l">
              <a:lnSpc>
                <a:spcPts val="5554"/>
              </a:lnSpc>
            </a:pPr>
            <a:r>
              <a:rPr lang="en-US" sz="3967">
                <a:solidFill>
                  <a:srgbClr val="FFFFFF"/>
                </a:solidFill>
                <a:latin typeface="Poppins"/>
                <a:ea typeface="Poppins"/>
                <a:cs typeface="Poppins"/>
                <a:sym typeface="Poppins"/>
              </a:rPr>
              <a:t>Ciri-ciri:</a:t>
            </a:r>
          </a:p>
          <a:p>
            <a:pPr algn="l" marL="856603" indent="-428301" lvl="1">
              <a:lnSpc>
                <a:spcPts val="5554"/>
              </a:lnSpc>
              <a:buFont typeface="Arial"/>
              <a:buChar char="•"/>
            </a:pPr>
            <a:r>
              <a:rPr lang="en-US" sz="3967">
                <a:solidFill>
                  <a:srgbClr val="FFFFFF"/>
                </a:solidFill>
                <a:latin typeface="Poppins"/>
                <a:ea typeface="Poppins"/>
                <a:cs typeface="Poppins"/>
                <a:sym typeface="Poppins"/>
              </a:rPr>
              <a:t>Hanya untuk 1 elemen</a:t>
            </a:r>
          </a:p>
          <a:p>
            <a:pPr algn="l" marL="856603" indent="-428301" lvl="1">
              <a:lnSpc>
                <a:spcPts val="5554"/>
              </a:lnSpc>
              <a:buFont typeface="Arial"/>
              <a:buChar char="•"/>
            </a:pPr>
            <a:r>
              <a:rPr lang="en-US" sz="3967">
                <a:solidFill>
                  <a:srgbClr val="FFFFFF"/>
                </a:solidFill>
                <a:latin typeface="Poppins"/>
                <a:ea typeface="Poppins"/>
                <a:cs typeface="Poppins"/>
                <a:sym typeface="Poppins"/>
              </a:rPr>
              <a:t>Bers</a:t>
            </a:r>
            <a:r>
              <a:rPr lang="en-US" sz="3967">
                <a:solidFill>
                  <a:srgbClr val="FFFFFF"/>
                </a:solidFill>
                <a:latin typeface="Poppins"/>
                <a:ea typeface="Poppins"/>
                <a:cs typeface="Poppins"/>
                <a:sym typeface="Poppins"/>
              </a:rPr>
              <a:t>ifat unik</a:t>
            </a:r>
          </a:p>
          <a:p>
            <a:pPr algn="l" marL="856603" indent="-428301" lvl="1">
              <a:lnSpc>
                <a:spcPts val="5554"/>
              </a:lnSpc>
              <a:spcBef>
                <a:spcPct val="0"/>
              </a:spcBef>
              <a:buFont typeface="Arial"/>
              <a:buChar char="•"/>
            </a:pPr>
            <a:r>
              <a:rPr lang="en-US" sz="3967">
                <a:solidFill>
                  <a:srgbClr val="FFFFFF"/>
                </a:solidFill>
                <a:latin typeface="Poppins"/>
                <a:ea typeface="Poppins"/>
                <a:cs typeface="Poppins"/>
                <a:sym typeface="Poppins"/>
              </a:rPr>
              <a:t>Biasanya untuk elemen penting</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60313" y="2608904"/>
            <a:ext cx="15967374" cy="6649396"/>
            <a:chOff x="0" y="0"/>
            <a:chExt cx="4205399" cy="1751281"/>
          </a:xfrm>
        </p:grpSpPr>
        <p:sp>
          <p:nvSpPr>
            <p:cNvPr name="Freeform 4" id="4"/>
            <p:cNvSpPr/>
            <p:nvPr/>
          </p:nvSpPr>
          <p:spPr>
            <a:xfrm flipH="false" flipV="false" rot="0">
              <a:off x="0" y="0"/>
              <a:ext cx="4205399" cy="1751281"/>
            </a:xfrm>
            <a:custGeom>
              <a:avLst/>
              <a:gdLst/>
              <a:ahLst/>
              <a:cxnLst/>
              <a:rect r="r" b="b" t="t" l="l"/>
              <a:pathLst>
                <a:path h="1751281" w="4205399">
                  <a:moveTo>
                    <a:pt x="24728" y="0"/>
                  </a:moveTo>
                  <a:lnTo>
                    <a:pt x="4180671" y="0"/>
                  </a:lnTo>
                  <a:cubicBezTo>
                    <a:pt x="4194328" y="0"/>
                    <a:pt x="4205399" y="11071"/>
                    <a:pt x="4205399" y="24728"/>
                  </a:cubicBezTo>
                  <a:lnTo>
                    <a:pt x="4205399" y="1726554"/>
                  </a:lnTo>
                  <a:cubicBezTo>
                    <a:pt x="4205399" y="1733112"/>
                    <a:pt x="4202793" y="1739401"/>
                    <a:pt x="4198156" y="1744039"/>
                  </a:cubicBezTo>
                  <a:cubicBezTo>
                    <a:pt x="4193519" y="1748676"/>
                    <a:pt x="4187229" y="1751281"/>
                    <a:pt x="4180671" y="1751281"/>
                  </a:cubicBezTo>
                  <a:lnTo>
                    <a:pt x="24728" y="1751281"/>
                  </a:lnTo>
                  <a:cubicBezTo>
                    <a:pt x="18170" y="1751281"/>
                    <a:pt x="11880" y="1748676"/>
                    <a:pt x="7243" y="1744039"/>
                  </a:cubicBezTo>
                  <a:cubicBezTo>
                    <a:pt x="2605" y="1739401"/>
                    <a:pt x="0" y="1733112"/>
                    <a:pt x="0" y="1726554"/>
                  </a:cubicBezTo>
                  <a:lnTo>
                    <a:pt x="0" y="24728"/>
                  </a:lnTo>
                  <a:cubicBezTo>
                    <a:pt x="0" y="18170"/>
                    <a:pt x="2605" y="11880"/>
                    <a:pt x="7243" y="7243"/>
                  </a:cubicBezTo>
                  <a:cubicBezTo>
                    <a:pt x="11880" y="2605"/>
                    <a:pt x="18170" y="0"/>
                    <a:pt x="24728" y="0"/>
                  </a:cubicBezTo>
                  <a:close/>
                </a:path>
              </a:pathLst>
            </a:custGeom>
            <a:solidFill>
              <a:srgbClr val="004AAD"/>
            </a:solidFill>
          </p:spPr>
        </p:sp>
        <p:sp>
          <p:nvSpPr>
            <p:cNvPr name="TextBox 5" id="5"/>
            <p:cNvSpPr txBox="true"/>
            <p:nvPr/>
          </p:nvSpPr>
          <p:spPr>
            <a:xfrm>
              <a:off x="0" y="-47625"/>
              <a:ext cx="4205399" cy="1798906"/>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3970508" y="895350"/>
            <a:ext cx="10346985" cy="1236184"/>
          </a:xfrm>
          <a:prstGeom prst="rect">
            <a:avLst/>
          </a:prstGeom>
        </p:spPr>
        <p:txBody>
          <a:bodyPr anchor="t" rtlCol="false" tIns="0" lIns="0" bIns="0" rIns="0">
            <a:spAutoFit/>
          </a:bodyPr>
          <a:lstStyle/>
          <a:p>
            <a:pPr algn="ctr">
              <a:lnSpc>
                <a:spcPts val="10153"/>
              </a:lnSpc>
            </a:pPr>
            <a:r>
              <a:rPr lang="en-US" sz="7252">
                <a:solidFill>
                  <a:srgbClr val="004AAD"/>
                </a:solidFill>
                <a:latin typeface="League Spartan"/>
                <a:ea typeface="League Spartan"/>
                <a:cs typeface="League Spartan"/>
                <a:sym typeface="League Spartan"/>
              </a:rPr>
              <a:t>WARNA DALAM CSS</a:t>
            </a:r>
          </a:p>
        </p:txBody>
      </p:sp>
      <p:sp>
        <p:nvSpPr>
          <p:cNvPr name="TextBox 7" id="7"/>
          <p:cNvSpPr txBox="true"/>
          <p:nvPr/>
        </p:nvSpPr>
        <p:spPr>
          <a:xfrm rot="0">
            <a:off x="2290990" y="4015316"/>
            <a:ext cx="13706021" cy="3722272"/>
          </a:xfrm>
          <a:prstGeom prst="rect">
            <a:avLst/>
          </a:prstGeom>
        </p:spPr>
        <p:txBody>
          <a:bodyPr anchor="t" rtlCol="false" tIns="0" lIns="0" bIns="0" rIns="0">
            <a:spAutoFit/>
          </a:bodyPr>
          <a:lstStyle/>
          <a:p>
            <a:pPr algn="ctr">
              <a:lnSpc>
                <a:spcPts val="5885"/>
              </a:lnSpc>
              <a:spcBef>
                <a:spcPct val="0"/>
              </a:spcBef>
            </a:pPr>
            <a:r>
              <a:rPr lang="en-US" sz="4203">
                <a:solidFill>
                  <a:srgbClr val="E5E5E5"/>
                </a:solidFill>
                <a:latin typeface="Poppins"/>
                <a:ea typeface="Poppins"/>
                <a:cs typeface="Poppins"/>
                <a:sym typeface="Poppins"/>
              </a:rPr>
              <a:t>CSS</a:t>
            </a:r>
            <a:r>
              <a:rPr lang="en-US" sz="4203">
                <a:solidFill>
                  <a:srgbClr val="E5E5E5"/>
                </a:solidFill>
                <a:latin typeface="Poppins"/>
                <a:ea typeface="Poppins"/>
                <a:cs typeface="Poppins"/>
                <a:sym typeface="Poppins"/>
              </a:rPr>
              <a:t> mendukung berbagai cara untuk menentukan warna, seperti nama warna langsung, kode HEX seperti #ff0000, RGB seperti rgb(255,0,0), dan HSL. Setiap metode memiliki kegunaan masing-masing tergantung kebutuhan desain.</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60313" y="3422781"/>
            <a:ext cx="15967374" cy="5835519"/>
            <a:chOff x="0" y="0"/>
            <a:chExt cx="4205399" cy="1536927"/>
          </a:xfrm>
        </p:grpSpPr>
        <p:sp>
          <p:nvSpPr>
            <p:cNvPr name="Freeform 4" id="4"/>
            <p:cNvSpPr/>
            <p:nvPr/>
          </p:nvSpPr>
          <p:spPr>
            <a:xfrm flipH="false" flipV="false" rot="0">
              <a:off x="0" y="0"/>
              <a:ext cx="4205399" cy="1536927"/>
            </a:xfrm>
            <a:custGeom>
              <a:avLst/>
              <a:gdLst/>
              <a:ahLst/>
              <a:cxnLst/>
              <a:rect r="r" b="b" t="t" l="l"/>
              <a:pathLst>
                <a:path h="1536927" w="4205399">
                  <a:moveTo>
                    <a:pt x="24728" y="0"/>
                  </a:moveTo>
                  <a:lnTo>
                    <a:pt x="4180671" y="0"/>
                  </a:lnTo>
                  <a:cubicBezTo>
                    <a:pt x="4194328" y="0"/>
                    <a:pt x="4205399" y="11071"/>
                    <a:pt x="4205399" y="24728"/>
                  </a:cubicBezTo>
                  <a:lnTo>
                    <a:pt x="4205399" y="1512199"/>
                  </a:lnTo>
                  <a:cubicBezTo>
                    <a:pt x="4205399" y="1518757"/>
                    <a:pt x="4202793" y="1525047"/>
                    <a:pt x="4198156" y="1529684"/>
                  </a:cubicBezTo>
                  <a:cubicBezTo>
                    <a:pt x="4193519" y="1534322"/>
                    <a:pt x="4187229" y="1536927"/>
                    <a:pt x="4180671" y="1536927"/>
                  </a:cubicBezTo>
                  <a:lnTo>
                    <a:pt x="24728" y="1536927"/>
                  </a:lnTo>
                  <a:cubicBezTo>
                    <a:pt x="18170" y="1536927"/>
                    <a:pt x="11880" y="1534322"/>
                    <a:pt x="7243" y="1529684"/>
                  </a:cubicBezTo>
                  <a:cubicBezTo>
                    <a:pt x="2605" y="1525047"/>
                    <a:pt x="0" y="1518757"/>
                    <a:pt x="0" y="1512199"/>
                  </a:cubicBezTo>
                  <a:lnTo>
                    <a:pt x="0" y="24728"/>
                  </a:lnTo>
                  <a:cubicBezTo>
                    <a:pt x="0" y="18170"/>
                    <a:pt x="2605" y="11880"/>
                    <a:pt x="7243" y="7243"/>
                  </a:cubicBezTo>
                  <a:cubicBezTo>
                    <a:pt x="11880" y="2605"/>
                    <a:pt x="18170" y="0"/>
                    <a:pt x="24728" y="0"/>
                  </a:cubicBezTo>
                  <a:close/>
                </a:path>
              </a:pathLst>
            </a:custGeom>
            <a:solidFill>
              <a:srgbClr val="004AAD"/>
            </a:solidFill>
          </p:spPr>
        </p:sp>
        <p:sp>
          <p:nvSpPr>
            <p:cNvPr name="TextBox 5" id="5"/>
            <p:cNvSpPr txBox="true"/>
            <p:nvPr/>
          </p:nvSpPr>
          <p:spPr>
            <a:xfrm>
              <a:off x="0" y="-47625"/>
              <a:ext cx="4205399" cy="158455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3505244" y="1321666"/>
            <a:ext cx="11277512" cy="1236184"/>
          </a:xfrm>
          <a:prstGeom prst="rect">
            <a:avLst/>
          </a:prstGeom>
        </p:spPr>
        <p:txBody>
          <a:bodyPr anchor="t" rtlCol="false" tIns="0" lIns="0" bIns="0" rIns="0">
            <a:spAutoFit/>
          </a:bodyPr>
          <a:lstStyle/>
          <a:p>
            <a:pPr algn="ctr">
              <a:lnSpc>
                <a:spcPts val="10153"/>
              </a:lnSpc>
            </a:pPr>
            <a:r>
              <a:rPr lang="en-US" sz="7252">
                <a:solidFill>
                  <a:srgbClr val="004AAD"/>
                </a:solidFill>
                <a:latin typeface="League Spartan"/>
                <a:ea typeface="League Spartan"/>
                <a:cs typeface="League Spartan"/>
                <a:sym typeface="League Spartan"/>
              </a:rPr>
              <a:t>FONT &amp; TEXT STYLING</a:t>
            </a:r>
          </a:p>
        </p:txBody>
      </p:sp>
      <p:sp>
        <p:nvSpPr>
          <p:cNvPr name="TextBox 7" id="7"/>
          <p:cNvSpPr txBox="true"/>
          <p:nvPr/>
        </p:nvSpPr>
        <p:spPr>
          <a:xfrm rot="0">
            <a:off x="2335611" y="3892108"/>
            <a:ext cx="13616778" cy="4763516"/>
          </a:xfrm>
          <a:prstGeom prst="rect">
            <a:avLst/>
          </a:prstGeom>
        </p:spPr>
        <p:txBody>
          <a:bodyPr anchor="t" rtlCol="false" tIns="0" lIns="0" bIns="0" rIns="0">
            <a:spAutoFit/>
          </a:bodyPr>
          <a:lstStyle/>
          <a:p>
            <a:pPr algn="ctr">
              <a:lnSpc>
                <a:spcPts val="6263"/>
              </a:lnSpc>
              <a:spcBef>
                <a:spcPct val="0"/>
              </a:spcBef>
            </a:pPr>
            <a:r>
              <a:rPr lang="en-US" sz="4473">
                <a:solidFill>
                  <a:srgbClr val="E5E5E5"/>
                </a:solidFill>
                <a:latin typeface="Poppins"/>
                <a:ea typeface="Poppins"/>
                <a:cs typeface="Poppins"/>
                <a:sym typeface="Poppins"/>
              </a:rPr>
              <a:t>CSS memungkinkan pengaturan teks agar lebih menarik dengan properti seperti font-size untuk ukuran teks, font-family untuk jenis huruf, font-weight untuk ketebalan huruf, dan text-align untuk posisi teks seperti kiri, tengah, atau kanan.</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2060860" y="8610390"/>
            <a:ext cx="14166280" cy="257282"/>
            <a:chOff x="0" y="0"/>
            <a:chExt cx="3731037" cy="67762"/>
          </a:xfrm>
        </p:grpSpPr>
        <p:sp>
          <p:nvSpPr>
            <p:cNvPr name="Freeform 4" id="4"/>
            <p:cNvSpPr/>
            <p:nvPr/>
          </p:nvSpPr>
          <p:spPr>
            <a:xfrm flipH="false" flipV="false" rot="0">
              <a:off x="0" y="0"/>
              <a:ext cx="3731037" cy="67762"/>
            </a:xfrm>
            <a:custGeom>
              <a:avLst/>
              <a:gdLst/>
              <a:ahLst/>
              <a:cxnLst/>
              <a:rect r="r" b="b" t="t" l="l"/>
              <a:pathLst>
                <a:path h="67762" w="3731037">
                  <a:moveTo>
                    <a:pt x="0" y="0"/>
                  </a:moveTo>
                  <a:lnTo>
                    <a:pt x="3731037" y="0"/>
                  </a:lnTo>
                  <a:lnTo>
                    <a:pt x="3731037" y="67762"/>
                  </a:lnTo>
                  <a:lnTo>
                    <a:pt x="0" y="67762"/>
                  </a:lnTo>
                  <a:close/>
                </a:path>
              </a:pathLst>
            </a:custGeom>
            <a:solidFill>
              <a:srgbClr val="004AAD"/>
            </a:solidFill>
          </p:spPr>
        </p:sp>
        <p:sp>
          <p:nvSpPr>
            <p:cNvPr name="TextBox 5" id="5"/>
            <p:cNvSpPr txBox="true"/>
            <p:nvPr/>
          </p:nvSpPr>
          <p:spPr>
            <a:xfrm>
              <a:off x="0" y="-47625"/>
              <a:ext cx="3731037" cy="115387"/>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6731640" y="1575118"/>
            <a:ext cx="4824720" cy="912915"/>
          </a:xfrm>
          <a:prstGeom prst="rect">
            <a:avLst/>
          </a:prstGeom>
        </p:spPr>
        <p:txBody>
          <a:bodyPr anchor="t" rtlCol="false" tIns="0" lIns="0" bIns="0" rIns="0">
            <a:spAutoFit/>
          </a:bodyPr>
          <a:lstStyle/>
          <a:p>
            <a:pPr algn="l">
              <a:lnSpc>
                <a:spcPts val="7431"/>
              </a:lnSpc>
            </a:pPr>
            <a:r>
              <a:rPr lang="en-US" sz="5308">
                <a:solidFill>
                  <a:srgbClr val="004AAD"/>
                </a:solidFill>
                <a:latin typeface="League Spartan"/>
                <a:ea typeface="League Spartan"/>
                <a:cs typeface="League Spartan"/>
                <a:sym typeface="League Spartan"/>
              </a:rPr>
              <a:t>POSITIONING</a:t>
            </a:r>
          </a:p>
        </p:txBody>
      </p:sp>
      <p:sp>
        <p:nvSpPr>
          <p:cNvPr name="TextBox 7" id="7"/>
          <p:cNvSpPr txBox="true"/>
          <p:nvPr/>
        </p:nvSpPr>
        <p:spPr>
          <a:xfrm rot="0">
            <a:off x="2060860" y="3453248"/>
            <a:ext cx="14166280" cy="3108200"/>
          </a:xfrm>
          <a:prstGeom prst="rect">
            <a:avLst/>
          </a:prstGeom>
        </p:spPr>
        <p:txBody>
          <a:bodyPr anchor="t" rtlCol="false" tIns="0" lIns="0" bIns="0" rIns="0">
            <a:spAutoFit/>
          </a:bodyPr>
          <a:lstStyle/>
          <a:p>
            <a:pPr algn="ctr">
              <a:lnSpc>
                <a:spcPts val="6131"/>
              </a:lnSpc>
            </a:pPr>
            <a:r>
              <a:rPr lang="en-US" sz="4379">
                <a:solidFill>
                  <a:srgbClr val="000000"/>
                </a:solidFill>
                <a:latin typeface="Poppins"/>
                <a:ea typeface="Poppins"/>
                <a:cs typeface="Poppins"/>
                <a:sym typeface="Poppins"/>
              </a:rPr>
              <a:t>Positioning adalah teknik CSS untuk mengatur posisi elemen pada halaman web.</a:t>
            </a:r>
          </a:p>
          <a:p>
            <a:pPr algn="ctr">
              <a:lnSpc>
                <a:spcPts val="6131"/>
              </a:lnSpc>
              <a:spcBef>
                <a:spcPct val="0"/>
              </a:spcBef>
            </a:pPr>
            <a:r>
              <a:rPr lang="en-US" sz="4379">
                <a:solidFill>
                  <a:srgbClr val="000000"/>
                </a:solidFill>
                <a:latin typeface="Poppins"/>
                <a:ea typeface="Poppins"/>
                <a:cs typeface="Poppins"/>
                <a:sym typeface="Poppins"/>
              </a:rPr>
              <a:t> Dengan positioning, elemen bisa dipindahkan atau ditempatkan secara spesifik.</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482264" y="0"/>
            <a:ext cx="19271578" cy="10287000"/>
            <a:chOff x="0" y="0"/>
            <a:chExt cx="5075642" cy="2709333"/>
          </a:xfrm>
        </p:grpSpPr>
        <p:sp>
          <p:nvSpPr>
            <p:cNvPr name="Freeform 4" id="4"/>
            <p:cNvSpPr/>
            <p:nvPr/>
          </p:nvSpPr>
          <p:spPr>
            <a:xfrm flipH="false" flipV="false" rot="0">
              <a:off x="0" y="0"/>
              <a:ext cx="5075642" cy="2709333"/>
            </a:xfrm>
            <a:custGeom>
              <a:avLst/>
              <a:gdLst/>
              <a:ahLst/>
              <a:cxnLst/>
              <a:rect r="r" b="b" t="t" l="l"/>
              <a:pathLst>
                <a:path h="2709333" w="5075642">
                  <a:moveTo>
                    <a:pt x="0" y="0"/>
                  </a:moveTo>
                  <a:lnTo>
                    <a:pt x="5075642" y="0"/>
                  </a:lnTo>
                  <a:lnTo>
                    <a:pt x="5075642" y="2709333"/>
                  </a:lnTo>
                  <a:lnTo>
                    <a:pt x="0" y="2709333"/>
                  </a:lnTo>
                  <a:close/>
                </a:path>
              </a:pathLst>
            </a:custGeom>
            <a:solidFill>
              <a:srgbClr val="004AAD"/>
            </a:solidFill>
          </p:spPr>
        </p:sp>
        <p:sp>
          <p:nvSpPr>
            <p:cNvPr name="TextBox 5" id="5"/>
            <p:cNvSpPr txBox="true"/>
            <p:nvPr/>
          </p:nvSpPr>
          <p:spPr>
            <a:xfrm>
              <a:off x="0" y="-47625"/>
              <a:ext cx="5075642" cy="2756958"/>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864656" y="1799223"/>
            <a:ext cx="6558689" cy="855023"/>
          </a:xfrm>
          <a:prstGeom prst="rect">
            <a:avLst/>
          </a:prstGeom>
        </p:spPr>
        <p:txBody>
          <a:bodyPr anchor="t" rtlCol="false" tIns="0" lIns="0" bIns="0" rIns="0">
            <a:spAutoFit/>
          </a:bodyPr>
          <a:lstStyle/>
          <a:p>
            <a:pPr algn="l">
              <a:lnSpc>
                <a:spcPts val="7063"/>
              </a:lnSpc>
            </a:pPr>
            <a:r>
              <a:rPr lang="en-US" b="true" sz="5045">
                <a:solidFill>
                  <a:srgbClr val="FFFFFF"/>
                </a:solidFill>
                <a:latin typeface="League Spartan"/>
                <a:ea typeface="League Spartan"/>
                <a:cs typeface="League Spartan"/>
                <a:sym typeface="League Spartan"/>
              </a:rPr>
              <a:t>JENIS POSITIONING</a:t>
            </a:r>
          </a:p>
        </p:txBody>
      </p:sp>
      <p:sp>
        <p:nvSpPr>
          <p:cNvPr name="TextBox 7" id="7"/>
          <p:cNvSpPr txBox="true"/>
          <p:nvPr/>
        </p:nvSpPr>
        <p:spPr>
          <a:xfrm rot="0">
            <a:off x="1662082" y="3829985"/>
            <a:ext cx="14982886" cy="4666876"/>
          </a:xfrm>
          <a:prstGeom prst="rect">
            <a:avLst/>
          </a:prstGeom>
        </p:spPr>
        <p:txBody>
          <a:bodyPr anchor="t" rtlCol="false" tIns="0" lIns="0" bIns="0" rIns="0">
            <a:spAutoFit/>
          </a:bodyPr>
          <a:lstStyle/>
          <a:p>
            <a:pPr algn="ctr">
              <a:lnSpc>
                <a:spcPts val="6167"/>
              </a:lnSpc>
              <a:spcBef>
                <a:spcPct val="0"/>
              </a:spcBef>
            </a:pPr>
            <a:r>
              <a:rPr lang="en-US" sz="4405">
                <a:solidFill>
                  <a:srgbClr val="FFFFFF"/>
                </a:solidFill>
                <a:latin typeface="Poppins"/>
                <a:ea typeface="Poppins"/>
                <a:cs typeface="Poppins"/>
                <a:sym typeface="Poppins"/>
              </a:rPr>
              <a:t>CSS memiliki lima jenis positioning utama yaitu static sebagai default, relative untuk menggeser posisi dari tempat asal, absolute untuk posisi bebas terhadap parent, fixed untuk posisi tetap di layar, dan sticky yang merupakan gabungan antara relative dan fixed.</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60313" y="3422781"/>
            <a:ext cx="15967374" cy="5835519"/>
            <a:chOff x="0" y="0"/>
            <a:chExt cx="4205399" cy="1536927"/>
          </a:xfrm>
        </p:grpSpPr>
        <p:sp>
          <p:nvSpPr>
            <p:cNvPr name="Freeform 4" id="4"/>
            <p:cNvSpPr/>
            <p:nvPr/>
          </p:nvSpPr>
          <p:spPr>
            <a:xfrm flipH="false" flipV="false" rot="0">
              <a:off x="0" y="0"/>
              <a:ext cx="4205399" cy="1536927"/>
            </a:xfrm>
            <a:custGeom>
              <a:avLst/>
              <a:gdLst/>
              <a:ahLst/>
              <a:cxnLst/>
              <a:rect r="r" b="b" t="t" l="l"/>
              <a:pathLst>
                <a:path h="1536927" w="4205399">
                  <a:moveTo>
                    <a:pt x="24728" y="0"/>
                  </a:moveTo>
                  <a:lnTo>
                    <a:pt x="4180671" y="0"/>
                  </a:lnTo>
                  <a:cubicBezTo>
                    <a:pt x="4194328" y="0"/>
                    <a:pt x="4205399" y="11071"/>
                    <a:pt x="4205399" y="24728"/>
                  </a:cubicBezTo>
                  <a:lnTo>
                    <a:pt x="4205399" y="1512199"/>
                  </a:lnTo>
                  <a:cubicBezTo>
                    <a:pt x="4205399" y="1518757"/>
                    <a:pt x="4202793" y="1525047"/>
                    <a:pt x="4198156" y="1529684"/>
                  </a:cubicBezTo>
                  <a:cubicBezTo>
                    <a:pt x="4193519" y="1534322"/>
                    <a:pt x="4187229" y="1536927"/>
                    <a:pt x="4180671" y="1536927"/>
                  </a:cubicBezTo>
                  <a:lnTo>
                    <a:pt x="24728" y="1536927"/>
                  </a:lnTo>
                  <a:cubicBezTo>
                    <a:pt x="18170" y="1536927"/>
                    <a:pt x="11880" y="1534322"/>
                    <a:pt x="7243" y="1529684"/>
                  </a:cubicBezTo>
                  <a:cubicBezTo>
                    <a:pt x="2605" y="1525047"/>
                    <a:pt x="0" y="1518757"/>
                    <a:pt x="0" y="1512199"/>
                  </a:cubicBezTo>
                  <a:lnTo>
                    <a:pt x="0" y="24728"/>
                  </a:lnTo>
                  <a:cubicBezTo>
                    <a:pt x="0" y="18170"/>
                    <a:pt x="2605" y="11880"/>
                    <a:pt x="7243" y="7243"/>
                  </a:cubicBezTo>
                  <a:cubicBezTo>
                    <a:pt x="11880" y="2605"/>
                    <a:pt x="18170" y="0"/>
                    <a:pt x="24728" y="0"/>
                  </a:cubicBezTo>
                  <a:close/>
                </a:path>
              </a:pathLst>
            </a:custGeom>
            <a:solidFill>
              <a:srgbClr val="004AAD"/>
            </a:solidFill>
          </p:spPr>
        </p:sp>
        <p:sp>
          <p:nvSpPr>
            <p:cNvPr name="TextBox 5" id="5"/>
            <p:cNvSpPr txBox="true"/>
            <p:nvPr/>
          </p:nvSpPr>
          <p:spPr>
            <a:xfrm>
              <a:off x="0" y="-47625"/>
              <a:ext cx="4205399" cy="158455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4731616" y="1235605"/>
            <a:ext cx="8824768" cy="1236184"/>
          </a:xfrm>
          <a:prstGeom prst="rect">
            <a:avLst/>
          </a:prstGeom>
        </p:spPr>
        <p:txBody>
          <a:bodyPr anchor="t" rtlCol="false" tIns="0" lIns="0" bIns="0" rIns="0">
            <a:spAutoFit/>
          </a:bodyPr>
          <a:lstStyle/>
          <a:p>
            <a:pPr algn="ctr">
              <a:lnSpc>
                <a:spcPts val="10153"/>
              </a:lnSpc>
            </a:pPr>
            <a:r>
              <a:rPr lang="en-US" sz="7252">
                <a:solidFill>
                  <a:srgbClr val="004AAD"/>
                </a:solidFill>
                <a:latin typeface="League Spartan"/>
                <a:ea typeface="League Spartan"/>
                <a:cs typeface="League Spartan"/>
                <a:sym typeface="League Spartan"/>
              </a:rPr>
              <a:t>STATIC POSITION</a:t>
            </a:r>
          </a:p>
        </p:txBody>
      </p:sp>
      <p:sp>
        <p:nvSpPr>
          <p:cNvPr name="TextBox 7" id="7"/>
          <p:cNvSpPr txBox="true"/>
          <p:nvPr/>
        </p:nvSpPr>
        <p:spPr>
          <a:xfrm rot="0">
            <a:off x="2335611" y="4287424"/>
            <a:ext cx="13616778" cy="3972883"/>
          </a:xfrm>
          <a:prstGeom prst="rect">
            <a:avLst/>
          </a:prstGeom>
        </p:spPr>
        <p:txBody>
          <a:bodyPr anchor="t" rtlCol="false" tIns="0" lIns="0" bIns="0" rIns="0">
            <a:spAutoFit/>
          </a:bodyPr>
          <a:lstStyle/>
          <a:p>
            <a:pPr algn="ctr">
              <a:lnSpc>
                <a:spcPts val="6263"/>
              </a:lnSpc>
              <a:spcBef>
                <a:spcPct val="0"/>
              </a:spcBef>
            </a:pPr>
            <a:r>
              <a:rPr lang="en-US" sz="4473">
                <a:solidFill>
                  <a:srgbClr val="E5E5E5"/>
                </a:solidFill>
                <a:latin typeface="Poppins"/>
                <a:ea typeface="Poppins"/>
                <a:cs typeface="Poppins"/>
                <a:sym typeface="Poppins"/>
              </a:rPr>
              <a:t>Static adalah posisi default semua elemen HTML. Elemen dengan posisi static mengikuti alur normal halaman dan tidak dapat digeser menggunakan properti seperti top, left, right, atau bottom.</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60313" y="3422781"/>
            <a:ext cx="15967374" cy="5835519"/>
            <a:chOff x="0" y="0"/>
            <a:chExt cx="4205399" cy="1536927"/>
          </a:xfrm>
        </p:grpSpPr>
        <p:sp>
          <p:nvSpPr>
            <p:cNvPr name="Freeform 4" id="4"/>
            <p:cNvSpPr/>
            <p:nvPr/>
          </p:nvSpPr>
          <p:spPr>
            <a:xfrm flipH="false" flipV="false" rot="0">
              <a:off x="0" y="0"/>
              <a:ext cx="4205399" cy="1536927"/>
            </a:xfrm>
            <a:custGeom>
              <a:avLst/>
              <a:gdLst/>
              <a:ahLst/>
              <a:cxnLst/>
              <a:rect r="r" b="b" t="t" l="l"/>
              <a:pathLst>
                <a:path h="1536927" w="4205399">
                  <a:moveTo>
                    <a:pt x="24728" y="0"/>
                  </a:moveTo>
                  <a:lnTo>
                    <a:pt x="4180671" y="0"/>
                  </a:lnTo>
                  <a:cubicBezTo>
                    <a:pt x="4194328" y="0"/>
                    <a:pt x="4205399" y="11071"/>
                    <a:pt x="4205399" y="24728"/>
                  </a:cubicBezTo>
                  <a:lnTo>
                    <a:pt x="4205399" y="1512199"/>
                  </a:lnTo>
                  <a:cubicBezTo>
                    <a:pt x="4205399" y="1518757"/>
                    <a:pt x="4202793" y="1525047"/>
                    <a:pt x="4198156" y="1529684"/>
                  </a:cubicBezTo>
                  <a:cubicBezTo>
                    <a:pt x="4193519" y="1534322"/>
                    <a:pt x="4187229" y="1536927"/>
                    <a:pt x="4180671" y="1536927"/>
                  </a:cubicBezTo>
                  <a:lnTo>
                    <a:pt x="24728" y="1536927"/>
                  </a:lnTo>
                  <a:cubicBezTo>
                    <a:pt x="18170" y="1536927"/>
                    <a:pt x="11880" y="1534322"/>
                    <a:pt x="7243" y="1529684"/>
                  </a:cubicBezTo>
                  <a:cubicBezTo>
                    <a:pt x="2605" y="1525047"/>
                    <a:pt x="0" y="1518757"/>
                    <a:pt x="0" y="1512199"/>
                  </a:cubicBezTo>
                  <a:lnTo>
                    <a:pt x="0" y="24728"/>
                  </a:lnTo>
                  <a:cubicBezTo>
                    <a:pt x="0" y="18170"/>
                    <a:pt x="2605" y="11880"/>
                    <a:pt x="7243" y="7243"/>
                  </a:cubicBezTo>
                  <a:cubicBezTo>
                    <a:pt x="11880" y="2605"/>
                    <a:pt x="18170" y="0"/>
                    <a:pt x="24728" y="0"/>
                  </a:cubicBezTo>
                  <a:close/>
                </a:path>
              </a:pathLst>
            </a:custGeom>
            <a:solidFill>
              <a:srgbClr val="004AAD"/>
            </a:solidFill>
          </p:spPr>
        </p:sp>
        <p:sp>
          <p:nvSpPr>
            <p:cNvPr name="TextBox 5" id="5"/>
            <p:cNvSpPr txBox="true"/>
            <p:nvPr/>
          </p:nvSpPr>
          <p:spPr>
            <a:xfrm>
              <a:off x="0" y="-47625"/>
              <a:ext cx="4205399" cy="158455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3957065" y="1407727"/>
            <a:ext cx="10373870" cy="1236184"/>
          </a:xfrm>
          <a:prstGeom prst="rect">
            <a:avLst/>
          </a:prstGeom>
        </p:spPr>
        <p:txBody>
          <a:bodyPr anchor="t" rtlCol="false" tIns="0" lIns="0" bIns="0" rIns="0">
            <a:spAutoFit/>
          </a:bodyPr>
          <a:lstStyle/>
          <a:p>
            <a:pPr algn="ctr">
              <a:lnSpc>
                <a:spcPts val="10153"/>
              </a:lnSpc>
            </a:pPr>
            <a:r>
              <a:rPr lang="en-US" sz="7252">
                <a:solidFill>
                  <a:srgbClr val="004AAD"/>
                </a:solidFill>
                <a:latin typeface="League Spartan"/>
                <a:ea typeface="League Spartan"/>
                <a:cs typeface="League Spartan"/>
                <a:sym typeface="League Spartan"/>
              </a:rPr>
              <a:t>RELATIVE POSITION</a:t>
            </a:r>
          </a:p>
        </p:txBody>
      </p:sp>
      <p:sp>
        <p:nvSpPr>
          <p:cNvPr name="TextBox 7" id="7"/>
          <p:cNvSpPr txBox="true"/>
          <p:nvPr/>
        </p:nvSpPr>
        <p:spPr>
          <a:xfrm rot="0">
            <a:off x="2034397" y="4287424"/>
            <a:ext cx="14219206" cy="3972883"/>
          </a:xfrm>
          <a:prstGeom prst="rect">
            <a:avLst/>
          </a:prstGeom>
        </p:spPr>
        <p:txBody>
          <a:bodyPr anchor="t" rtlCol="false" tIns="0" lIns="0" bIns="0" rIns="0">
            <a:spAutoFit/>
          </a:bodyPr>
          <a:lstStyle/>
          <a:p>
            <a:pPr algn="ctr">
              <a:lnSpc>
                <a:spcPts val="6263"/>
              </a:lnSpc>
              <a:spcBef>
                <a:spcPct val="0"/>
              </a:spcBef>
            </a:pPr>
            <a:r>
              <a:rPr lang="en-US" sz="4473">
                <a:solidFill>
                  <a:srgbClr val="E5E5E5"/>
                </a:solidFill>
                <a:latin typeface="Poppins"/>
                <a:ea typeface="Poppins"/>
                <a:cs typeface="Poppins"/>
                <a:sym typeface="Poppins"/>
              </a:rPr>
              <a:t>R</a:t>
            </a:r>
            <a:r>
              <a:rPr lang="en-US" sz="4473">
                <a:solidFill>
                  <a:srgbClr val="E5E5E5"/>
                </a:solidFill>
                <a:latin typeface="Poppins"/>
                <a:ea typeface="Poppins"/>
                <a:cs typeface="Poppins"/>
                <a:sym typeface="Poppins"/>
              </a:rPr>
              <a:t>elative position membuat elemen bergeser dari posisi awalnya tanpa mengubah ruang aslinya di layout. Ini berarti elemen lain tidak akan terpengaruh meskipun posisi elemen tersebut berubah.</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482264" y="0"/>
            <a:ext cx="19271578" cy="10287000"/>
            <a:chOff x="0" y="0"/>
            <a:chExt cx="5075642" cy="2709333"/>
          </a:xfrm>
        </p:grpSpPr>
        <p:sp>
          <p:nvSpPr>
            <p:cNvPr name="Freeform 4" id="4"/>
            <p:cNvSpPr/>
            <p:nvPr/>
          </p:nvSpPr>
          <p:spPr>
            <a:xfrm flipH="false" flipV="false" rot="0">
              <a:off x="0" y="0"/>
              <a:ext cx="5075642" cy="2709333"/>
            </a:xfrm>
            <a:custGeom>
              <a:avLst/>
              <a:gdLst/>
              <a:ahLst/>
              <a:cxnLst/>
              <a:rect r="r" b="b" t="t" l="l"/>
              <a:pathLst>
                <a:path h="2709333" w="5075642">
                  <a:moveTo>
                    <a:pt x="0" y="0"/>
                  </a:moveTo>
                  <a:lnTo>
                    <a:pt x="5075642" y="0"/>
                  </a:lnTo>
                  <a:lnTo>
                    <a:pt x="5075642" y="2709333"/>
                  </a:lnTo>
                  <a:lnTo>
                    <a:pt x="0" y="2709333"/>
                  </a:lnTo>
                  <a:close/>
                </a:path>
              </a:pathLst>
            </a:custGeom>
            <a:solidFill>
              <a:srgbClr val="004AAD"/>
            </a:solidFill>
          </p:spPr>
        </p:sp>
        <p:sp>
          <p:nvSpPr>
            <p:cNvPr name="TextBox 5" id="5"/>
            <p:cNvSpPr txBox="true"/>
            <p:nvPr/>
          </p:nvSpPr>
          <p:spPr>
            <a:xfrm>
              <a:off x="0" y="-47625"/>
              <a:ext cx="5075642" cy="2756958"/>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498896" y="1981256"/>
            <a:ext cx="7290209" cy="855023"/>
          </a:xfrm>
          <a:prstGeom prst="rect">
            <a:avLst/>
          </a:prstGeom>
        </p:spPr>
        <p:txBody>
          <a:bodyPr anchor="t" rtlCol="false" tIns="0" lIns="0" bIns="0" rIns="0">
            <a:spAutoFit/>
          </a:bodyPr>
          <a:lstStyle/>
          <a:p>
            <a:pPr algn="l">
              <a:lnSpc>
                <a:spcPts val="7063"/>
              </a:lnSpc>
            </a:pPr>
            <a:r>
              <a:rPr lang="en-US" sz="5045">
                <a:solidFill>
                  <a:srgbClr val="FFFFFF"/>
                </a:solidFill>
                <a:latin typeface="League Spartan"/>
                <a:ea typeface="League Spartan"/>
                <a:cs typeface="League Spartan"/>
                <a:sym typeface="League Spartan"/>
              </a:rPr>
              <a:t>ABSOLUTE POSITION</a:t>
            </a:r>
          </a:p>
        </p:txBody>
      </p:sp>
      <p:sp>
        <p:nvSpPr>
          <p:cNvPr name="TextBox 7" id="7"/>
          <p:cNvSpPr txBox="true"/>
          <p:nvPr/>
        </p:nvSpPr>
        <p:spPr>
          <a:xfrm rot="0">
            <a:off x="1339352" y="4184140"/>
            <a:ext cx="15628345" cy="3891053"/>
          </a:xfrm>
          <a:prstGeom prst="rect">
            <a:avLst/>
          </a:prstGeom>
        </p:spPr>
        <p:txBody>
          <a:bodyPr anchor="t" rtlCol="false" tIns="0" lIns="0" bIns="0" rIns="0">
            <a:spAutoFit/>
          </a:bodyPr>
          <a:lstStyle/>
          <a:p>
            <a:pPr algn="ctr">
              <a:lnSpc>
                <a:spcPts val="6167"/>
              </a:lnSpc>
              <a:spcBef>
                <a:spcPct val="0"/>
              </a:spcBef>
            </a:pPr>
            <a:r>
              <a:rPr lang="en-US" sz="4405">
                <a:solidFill>
                  <a:srgbClr val="FFFFFF"/>
                </a:solidFill>
                <a:latin typeface="Poppins"/>
                <a:ea typeface="Poppins"/>
                <a:cs typeface="Poppins"/>
                <a:sym typeface="Poppins"/>
              </a:rPr>
              <a:t>Absolute position membuat elemen keluar dari alur normal halaman dan diposisikan berdasarkan parent terdekat yang memiliki positioning. Ini sering digunakan untuk membuat elemen seperti popup, badge, atau icon kecil.</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482264" y="0"/>
            <a:ext cx="19271578" cy="10287000"/>
            <a:chOff x="0" y="0"/>
            <a:chExt cx="5075642" cy="2709333"/>
          </a:xfrm>
        </p:grpSpPr>
        <p:sp>
          <p:nvSpPr>
            <p:cNvPr name="Freeform 4" id="4"/>
            <p:cNvSpPr/>
            <p:nvPr/>
          </p:nvSpPr>
          <p:spPr>
            <a:xfrm flipH="false" flipV="false" rot="0">
              <a:off x="0" y="0"/>
              <a:ext cx="5075642" cy="2709333"/>
            </a:xfrm>
            <a:custGeom>
              <a:avLst/>
              <a:gdLst/>
              <a:ahLst/>
              <a:cxnLst/>
              <a:rect r="r" b="b" t="t" l="l"/>
              <a:pathLst>
                <a:path h="2709333" w="5075642">
                  <a:moveTo>
                    <a:pt x="0" y="0"/>
                  </a:moveTo>
                  <a:lnTo>
                    <a:pt x="5075642" y="0"/>
                  </a:lnTo>
                  <a:lnTo>
                    <a:pt x="5075642" y="2709333"/>
                  </a:lnTo>
                  <a:lnTo>
                    <a:pt x="0" y="2709333"/>
                  </a:lnTo>
                  <a:close/>
                </a:path>
              </a:pathLst>
            </a:custGeom>
            <a:solidFill>
              <a:srgbClr val="004AAD"/>
            </a:solidFill>
          </p:spPr>
        </p:sp>
        <p:sp>
          <p:nvSpPr>
            <p:cNvPr name="TextBox 5" id="5"/>
            <p:cNvSpPr txBox="true"/>
            <p:nvPr/>
          </p:nvSpPr>
          <p:spPr>
            <a:xfrm>
              <a:off x="0" y="-47625"/>
              <a:ext cx="5075642" cy="2756958"/>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6210994" y="1600145"/>
            <a:ext cx="5866013" cy="885298"/>
          </a:xfrm>
          <a:prstGeom prst="rect">
            <a:avLst/>
          </a:prstGeom>
        </p:spPr>
        <p:txBody>
          <a:bodyPr anchor="t" rtlCol="false" tIns="0" lIns="0" bIns="0" rIns="0">
            <a:spAutoFit/>
          </a:bodyPr>
          <a:lstStyle/>
          <a:p>
            <a:pPr algn="l">
              <a:lnSpc>
                <a:spcPts val="7344"/>
              </a:lnSpc>
            </a:pPr>
            <a:r>
              <a:rPr lang="en-US" b="true" sz="5246">
                <a:solidFill>
                  <a:srgbClr val="FFFFFF"/>
                </a:solidFill>
                <a:latin typeface="League Spartan"/>
                <a:ea typeface="League Spartan"/>
                <a:cs typeface="League Spartan"/>
                <a:sym typeface="League Spartan"/>
              </a:rPr>
              <a:t>FIXED POSITION</a:t>
            </a:r>
          </a:p>
        </p:txBody>
      </p:sp>
      <p:sp>
        <p:nvSpPr>
          <p:cNvPr name="TextBox 7" id="7"/>
          <p:cNvSpPr txBox="true"/>
          <p:nvPr/>
        </p:nvSpPr>
        <p:spPr>
          <a:xfrm rot="0">
            <a:off x="2686008" y="3932334"/>
            <a:ext cx="5920110" cy="3507386"/>
          </a:xfrm>
          <a:prstGeom prst="rect">
            <a:avLst/>
          </a:prstGeom>
        </p:spPr>
        <p:txBody>
          <a:bodyPr anchor="t" rtlCol="false" tIns="0" lIns="0" bIns="0" rIns="0">
            <a:spAutoFit/>
          </a:bodyPr>
          <a:lstStyle/>
          <a:p>
            <a:pPr algn="l">
              <a:lnSpc>
                <a:spcPts val="5554"/>
              </a:lnSpc>
            </a:pPr>
            <a:r>
              <a:rPr lang="en-US" sz="3967">
                <a:solidFill>
                  <a:srgbClr val="FFFFFF"/>
                </a:solidFill>
                <a:latin typeface="Poppins"/>
                <a:ea typeface="Poppins"/>
                <a:cs typeface="Poppins"/>
                <a:sym typeface="Poppins"/>
              </a:rPr>
              <a:t>Fixed membuat elemen tetap di layar.</a:t>
            </a:r>
          </a:p>
          <a:p>
            <a:pPr algn="l">
              <a:lnSpc>
                <a:spcPts val="5554"/>
              </a:lnSpc>
            </a:pPr>
            <a:r>
              <a:rPr lang="en-US" sz="3967">
                <a:solidFill>
                  <a:srgbClr val="FFFFFF"/>
                </a:solidFill>
                <a:latin typeface="Poppins"/>
                <a:ea typeface="Poppins"/>
                <a:cs typeface="Poppins"/>
                <a:sym typeface="Poppins"/>
              </a:rPr>
              <a:t>Contoh:</a:t>
            </a:r>
          </a:p>
          <a:p>
            <a:pPr algn="l" marL="856603" indent="-428301" lvl="1">
              <a:lnSpc>
                <a:spcPts val="5554"/>
              </a:lnSpc>
              <a:buFont typeface="Arial"/>
              <a:buChar char="•"/>
            </a:pPr>
            <a:r>
              <a:rPr lang="en-US" sz="3967">
                <a:solidFill>
                  <a:srgbClr val="FFFFFF"/>
                </a:solidFill>
                <a:latin typeface="Poppins"/>
                <a:ea typeface="Poppins"/>
                <a:cs typeface="Poppins"/>
                <a:sym typeface="Poppins"/>
              </a:rPr>
              <a:t>Tombo</a:t>
            </a:r>
            <a:r>
              <a:rPr lang="en-US" sz="3967">
                <a:solidFill>
                  <a:srgbClr val="FFFFFF"/>
                </a:solidFill>
                <a:latin typeface="Poppins"/>
                <a:ea typeface="Poppins"/>
                <a:cs typeface="Poppins"/>
                <a:sym typeface="Poppins"/>
              </a:rPr>
              <a:t>l ch</a:t>
            </a:r>
            <a:r>
              <a:rPr lang="en-US" sz="3967">
                <a:solidFill>
                  <a:srgbClr val="FFFFFF"/>
                </a:solidFill>
                <a:latin typeface="Poppins"/>
                <a:ea typeface="Poppins"/>
                <a:cs typeface="Poppins"/>
                <a:sym typeface="Poppins"/>
              </a:rPr>
              <a:t>at</a:t>
            </a:r>
          </a:p>
          <a:p>
            <a:pPr algn="l" marL="856603" indent="-428301" lvl="1">
              <a:lnSpc>
                <a:spcPts val="5554"/>
              </a:lnSpc>
              <a:spcBef>
                <a:spcPct val="0"/>
              </a:spcBef>
              <a:buFont typeface="Arial"/>
              <a:buChar char="•"/>
            </a:pPr>
            <a:r>
              <a:rPr lang="en-US" sz="3967">
                <a:solidFill>
                  <a:srgbClr val="FFFFFF"/>
                </a:solidFill>
                <a:latin typeface="Poppins"/>
                <a:ea typeface="Poppins"/>
                <a:cs typeface="Poppins"/>
                <a:sym typeface="Poppins"/>
              </a:rPr>
              <a:t>N</a:t>
            </a:r>
            <a:r>
              <a:rPr lang="en-US" sz="3967">
                <a:solidFill>
                  <a:srgbClr val="FFFFFF"/>
                </a:solidFill>
                <a:latin typeface="Poppins"/>
                <a:ea typeface="Poppins"/>
                <a:cs typeface="Poppins"/>
                <a:sym typeface="Poppins"/>
              </a:rPr>
              <a:t>avbar tetap</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2060860" y="8610390"/>
            <a:ext cx="14166280" cy="257282"/>
            <a:chOff x="0" y="0"/>
            <a:chExt cx="3731037" cy="67762"/>
          </a:xfrm>
        </p:grpSpPr>
        <p:sp>
          <p:nvSpPr>
            <p:cNvPr name="Freeform 4" id="4"/>
            <p:cNvSpPr/>
            <p:nvPr/>
          </p:nvSpPr>
          <p:spPr>
            <a:xfrm flipH="false" flipV="false" rot="0">
              <a:off x="0" y="0"/>
              <a:ext cx="3731037" cy="67762"/>
            </a:xfrm>
            <a:custGeom>
              <a:avLst/>
              <a:gdLst/>
              <a:ahLst/>
              <a:cxnLst/>
              <a:rect r="r" b="b" t="t" l="l"/>
              <a:pathLst>
                <a:path h="67762" w="3731037">
                  <a:moveTo>
                    <a:pt x="0" y="0"/>
                  </a:moveTo>
                  <a:lnTo>
                    <a:pt x="3731037" y="0"/>
                  </a:lnTo>
                  <a:lnTo>
                    <a:pt x="3731037" y="67762"/>
                  </a:lnTo>
                  <a:lnTo>
                    <a:pt x="0" y="67762"/>
                  </a:lnTo>
                  <a:close/>
                </a:path>
              </a:pathLst>
            </a:custGeom>
            <a:solidFill>
              <a:srgbClr val="004AAD"/>
            </a:solidFill>
          </p:spPr>
        </p:sp>
        <p:sp>
          <p:nvSpPr>
            <p:cNvPr name="TextBox 5" id="5"/>
            <p:cNvSpPr txBox="true"/>
            <p:nvPr/>
          </p:nvSpPr>
          <p:spPr>
            <a:xfrm>
              <a:off x="0" y="-47625"/>
              <a:ext cx="3731037" cy="115387"/>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892544" y="1579365"/>
            <a:ext cx="6502913" cy="912915"/>
          </a:xfrm>
          <a:prstGeom prst="rect">
            <a:avLst/>
          </a:prstGeom>
        </p:spPr>
        <p:txBody>
          <a:bodyPr anchor="t" rtlCol="false" tIns="0" lIns="0" bIns="0" rIns="0">
            <a:spAutoFit/>
          </a:bodyPr>
          <a:lstStyle/>
          <a:p>
            <a:pPr algn="l">
              <a:lnSpc>
                <a:spcPts val="7431"/>
              </a:lnSpc>
            </a:pPr>
            <a:r>
              <a:rPr lang="en-US" sz="5308">
                <a:solidFill>
                  <a:srgbClr val="004AAD"/>
                </a:solidFill>
                <a:latin typeface="League Spartan"/>
                <a:ea typeface="League Spartan"/>
                <a:cs typeface="League Spartan"/>
                <a:sym typeface="League Spartan"/>
              </a:rPr>
              <a:t>STICKY POSITION</a:t>
            </a:r>
          </a:p>
        </p:txBody>
      </p:sp>
      <p:sp>
        <p:nvSpPr>
          <p:cNvPr name="TextBox 7" id="7"/>
          <p:cNvSpPr txBox="true"/>
          <p:nvPr/>
        </p:nvSpPr>
        <p:spPr>
          <a:xfrm rot="0">
            <a:off x="2060860" y="3829699"/>
            <a:ext cx="12703240" cy="3879725"/>
          </a:xfrm>
          <a:prstGeom prst="rect">
            <a:avLst/>
          </a:prstGeom>
        </p:spPr>
        <p:txBody>
          <a:bodyPr anchor="t" rtlCol="false" tIns="0" lIns="0" bIns="0" rIns="0">
            <a:spAutoFit/>
          </a:bodyPr>
          <a:lstStyle/>
          <a:p>
            <a:pPr algn="just">
              <a:lnSpc>
                <a:spcPts val="6131"/>
              </a:lnSpc>
            </a:pPr>
            <a:r>
              <a:rPr lang="en-US" sz="4379">
                <a:solidFill>
                  <a:srgbClr val="000000"/>
                </a:solidFill>
                <a:latin typeface="Poppins"/>
                <a:ea typeface="Poppins"/>
                <a:cs typeface="Poppins"/>
                <a:sym typeface="Poppins"/>
              </a:rPr>
              <a:t>Sticky adalah gabungan relative dan fixed.</a:t>
            </a:r>
          </a:p>
          <a:p>
            <a:pPr algn="just">
              <a:lnSpc>
                <a:spcPts val="6131"/>
              </a:lnSpc>
            </a:pPr>
            <a:r>
              <a:rPr lang="en-US" sz="4379">
                <a:solidFill>
                  <a:srgbClr val="000000"/>
                </a:solidFill>
                <a:latin typeface="Poppins"/>
                <a:ea typeface="Poppins"/>
                <a:cs typeface="Poppins"/>
                <a:sym typeface="Poppins"/>
              </a:rPr>
              <a:t>Ciri:</a:t>
            </a:r>
          </a:p>
          <a:p>
            <a:pPr algn="just" marL="945629" indent="-472815" lvl="1">
              <a:lnSpc>
                <a:spcPts val="6131"/>
              </a:lnSpc>
              <a:buFont typeface="Arial"/>
              <a:buChar char="•"/>
            </a:pPr>
            <a:r>
              <a:rPr lang="en-US" sz="4379">
                <a:solidFill>
                  <a:srgbClr val="000000"/>
                </a:solidFill>
                <a:latin typeface="Poppins"/>
                <a:ea typeface="Poppins"/>
                <a:cs typeface="Poppins"/>
                <a:sym typeface="Poppins"/>
              </a:rPr>
              <a:t>Normal dulu</a:t>
            </a:r>
          </a:p>
          <a:p>
            <a:pPr algn="just" marL="945629" indent="-472815" lvl="1">
              <a:lnSpc>
                <a:spcPts val="6131"/>
              </a:lnSpc>
              <a:buFont typeface="Arial"/>
              <a:buChar char="•"/>
            </a:pPr>
            <a:r>
              <a:rPr lang="en-US" sz="4379">
                <a:solidFill>
                  <a:srgbClr val="000000"/>
                </a:solidFill>
                <a:latin typeface="Poppins"/>
                <a:ea typeface="Poppins"/>
                <a:cs typeface="Poppins"/>
                <a:sym typeface="Poppins"/>
              </a:rPr>
              <a:t>Menempel saat scroll</a:t>
            </a:r>
          </a:p>
          <a:p>
            <a:pPr algn="just">
              <a:lnSpc>
                <a:spcPts val="6131"/>
              </a:lnSpc>
              <a:spcBef>
                <a:spcPct val="0"/>
              </a:spcBef>
            </a:pP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2060860" y="8610390"/>
            <a:ext cx="14166280" cy="257282"/>
            <a:chOff x="0" y="0"/>
            <a:chExt cx="3731037" cy="67762"/>
          </a:xfrm>
        </p:grpSpPr>
        <p:sp>
          <p:nvSpPr>
            <p:cNvPr name="Freeform 4" id="4"/>
            <p:cNvSpPr/>
            <p:nvPr/>
          </p:nvSpPr>
          <p:spPr>
            <a:xfrm flipH="false" flipV="false" rot="0">
              <a:off x="0" y="0"/>
              <a:ext cx="3731037" cy="67762"/>
            </a:xfrm>
            <a:custGeom>
              <a:avLst/>
              <a:gdLst/>
              <a:ahLst/>
              <a:cxnLst/>
              <a:rect r="r" b="b" t="t" l="l"/>
              <a:pathLst>
                <a:path h="67762" w="3731037">
                  <a:moveTo>
                    <a:pt x="0" y="0"/>
                  </a:moveTo>
                  <a:lnTo>
                    <a:pt x="3731037" y="0"/>
                  </a:lnTo>
                  <a:lnTo>
                    <a:pt x="3731037" y="67762"/>
                  </a:lnTo>
                  <a:lnTo>
                    <a:pt x="0" y="67762"/>
                  </a:lnTo>
                  <a:close/>
                </a:path>
              </a:pathLst>
            </a:custGeom>
            <a:solidFill>
              <a:srgbClr val="004AAD"/>
            </a:solidFill>
          </p:spPr>
        </p:sp>
        <p:sp>
          <p:nvSpPr>
            <p:cNvPr name="TextBox 5" id="5"/>
            <p:cNvSpPr txBox="true"/>
            <p:nvPr/>
          </p:nvSpPr>
          <p:spPr>
            <a:xfrm>
              <a:off x="0" y="-47625"/>
              <a:ext cx="3731037" cy="115387"/>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6925278" y="1864412"/>
            <a:ext cx="4437445" cy="912915"/>
          </a:xfrm>
          <a:prstGeom prst="rect">
            <a:avLst/>
          </a:prstGeom>
        </p:spPr>
        <p:txBody>
          <a:bodyPr anchor="t" rtlCol="false" tIns="0" lIns="0" bIns="0" rIns="0">
            <a:spAutoFit/>
          </a:bodyPr>
          <a:lstStyle/>
          <a:p>
            <a:pPr algn="l">
              <a:lnSpc>
                <a:spcPts val="7431"/>
              </a:lnSpc>
            </a:pPr>
            <a:r>
              <a:rPr lang="en-US" sz="5308">
                <a:solidFill>
                  <a:srgbClr val="004AAD"/>
                </a:solidFill>
                <a:latin typeface="League Spartan"/>
                <a:ea typeface="League Spartan"/>
                <a:cs typeface="League Spartan"/>
                <a:sym typeface="League Spartan"/>
              </a:rPr>
              <a:t>LAYOUTING</a:t>
            </a:r>
          </a:p>
        </p:txBody>
      </p:sp>
      <p:sp>
        <p:nvSpPr>
          <p:cNvPr name="TextBox 7" id="7"/>
          <p:cNvSpPr txBox="true"/>
          <p:nvPr/>
        </p:nvSpPr>
        <p:spPr>
          <a:xfrm rot="0">
            <a:off x="2060860" y="4699049"/>
            <a:ext cx="14166280" cy="2336675"/>
          </a:xfrm>
          <a:prstGeom prst="rect">
            <a:avLst/>
          </a:prstGeom>
        </p:spPr>
        <p:txBody>
          <a:bodyPr anchor="t" rtlCol="false" tIns="0" lIns="0" bIns="0" rIns="0">
            <a:spAutoFit/>
          </a:bodyPr>
          <a:lstStyle/>
          <a:p>
            <a:pPr algn="ctr">
              <a:lnSpc>
                <a:spcPts val="6131"/>
              </a:lnSpc>
              <a:spcBef>
                <a:spcPct val="0"/>
              </a:spcBef>
            </a:pPr>
            <a:r>
              <a:rPr lang="en-US" sz="4379">
                <a:solidFill>
                  <a:srgbClr val="000000"/>
                </a:solidFill>
                <a:latin typeface="Poppins"/>
                <a:ea typeface="Poppins"/>
                <a:cs typeface="Poppins"/>
                <a:sym typeface="Poppins"/>
              </a:rPr>
              <a:t>Layouting adalah cara mengatur susunan elemen dalam halaman web agar terlihat rapi dan mudah dibaca.</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482264" y="0"/>
            <a:ext cx="19271578" cy="10287000"/>
            <a:chOff x="0" y="0"/>
            <a:chExt cx="5075642" cy="2709333"/>
          </a:xfrm>
        </p:grpSpPr>
        <p:sp>
          <p:nvSpPr>
            <p:cNvPr name="Freeform 4" id="4"/>
            <p:cNvSpPr/>
            <p:nvPr/>
          </p:nvSpPr>
          <p:spPr>
            <a:xfrm flipH="false" flipV="false" rot="0">
              <a:off x="0" y="0"/>
              <a:ext cx="5075642" cy="2709333"/>
            </a:xfrm>
            <a:custGeom>
              <a:avLst/>
              <a:gdLst/>
              <a:ahLst/>
              <a:cxnLst/>
              <a:rect r="r" b="b" t="t" l="l"/>
              <a:pathLst>
                <a:path h="2709333" w="5075642">
                  <a:moveTo>
                    <a:pt x="0" y="0"/>
                  </a:moveTo>
                  <a:lnTo>
                    <a:pt x="5075642" y="0"/>
                  </a:lnTo>
                  <a:lnTo>
                    <a:pt x="5075642" y="2709333"/>
                  </a:lnTo>
                  <a:lnTo>
                    <a:pt x="0" y="2709333"/>
                  </a:lnTo>
                  <a:close/>
                </a:path>
              </a:pathLst>
            </a:custGeom>
            <a:solidFill>
              <a:srgbClr val="004AAD"/>
            </a:solidFill>
          </p:spPr>
        </p:sp>
        <p:sp>
          <p:nvSpPr>
            <p:cNvPr name="TextBox 5" id="5"/>
            <p:cNvSpPr txBox="true"/>
            <p:nvPr/>
          </p:nvSpPr>
          <p:spPr>
            <a:xfrm>
              <a:off x="0" y="-47625"/>
              <a:ext cx="5075642" cy="2756958"/>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692533" y="1627101"/>
            <a:ext cx="6902933" cy="855023"/>
          </a:xfrm>
          <a:prstGeom prst="rect">
            <a:avLst/>
          </a:prstGeom>
        </p:spPr>
        <p:txBody>
          <a:bodyPr anchor="t" rtlCol="false" tIns="0" lIns="0" bIns="0" rIns="0">
            <a:spAutoFit/>
          </a:bodyPr>
          <a:lstStyle/>
          <a:p>
            <a:pPr algn="l">
              <a:lnSpc>
                <a:spcPts val="7063"/>
              </a:lnSpc>
            </a:pPr>
            <a:r>
              <a:rPr lang="en-US" b="true" sz="5045">
                <a:solidFill>
                  <a:srgbClr val="FFFFFF"/>
                </a:solidFill>
                <a:latin typeface="League Spartan"/>
                <a:ea typeface="League Spartan"/>
                <a:cs typeface="League Spartan"/>
                <a:sym typeface="League Spartan"/>
              </a:rPr>
              <a:t>DISPLAY PROPERTY</a:t>
            </a:r>
          </a:p>
        </p:txBody>
      </p:sp>
      <p:sp>
        <p:nvSpPr>
          <p:cNvPr name="TextBox 7" id="7"/>
          <p:cNvSpPr txBox="true"/>
          <p:nvPr/>
        </p:nvSpPr>
        <p:spPr>
          <a:xfrm rot="0">
            <a:off x="2638140" y="4052217"/>
            <a:ext cx="6505860" cy="3917186"/>
          </a:xfrm>
          <a:prstGeom prst="rect">
            <a:avLst/>
          </a:prstGeom>
        </p:spPr>
        <p:txBody>
          <a:bodyPr anchor="t" rtlCol="false" tIns="0" lIns="0" bIns="0" rIns="0">
            <a:spAutoFit/>
          </a:bodyPr>
          <a:lstStyle/>
          <a:p>
            <a:pPr algn="just" marL="951057" indent="-475528" lvl="1">
              <a:lnSpc>
                <a:spcPts val="6167"/>
              </a:lnSpc>
              <a:buFont typeface="Arial"/>
              <a:buChar char="•"/>
            </a:pPr>
            <a:r>
              <a:rPr lang="en-US" sz="4405">
                <a:solidFill>
                  <a:srgbClr val="FFFFFF"/>
                </a:solidFill>
                <a:latin typeface="Poppins"/>
                <a:ea typeface="Poppins"/>
                <a:cs typeface="Poppins"/>
                <a:sym typeface="Poppins"/>
              </a:rPr>
              <a:t>block</a:t>
            </a:r>
          </a:p>
          <a:p>
            <a:pPr algn="just" marL="951057" indent="-475528" lvl="1">
              <a:lnSpc>
                <a:spcPts val="6167"/>
              </a:lnSpc>
              <a:buFont typeface="Arial"/>
              <a:buChar char="•"/>
            </a:pPr>
            <a:r>
              <a:rPr lang="en-US" sz="4405">
                <a:solidFill>
                  <a:srgbClr val="FFFFFF"/>
                </a:solidFill>
                <a:latin typeface="Poppins"/>
                <a:ea typeface="Poppins"/>
                <a:cs typeface="Poppins"/>
                <a:sym typeface="Poppins"/>
              </a:rPr>
              <a:t>inline</a:t>
            </a:r>
          </a:p>
          <a:p>
            <a:pPr algn="just" marL="951057" indent="-475528" lvl="1">
              <a:lnSpc>
                <a:spcPts val="6167"/>
              </a:lnSpc>
              <a:buFont typeface="Arial"/>
              <a:buChar char="•"/>
            </a:pPr>
            <a:r>
              <a:rPr lang="en-US" sz="4405">
                <a:solidFill>
                  <a:srgbClr val="FFFFFF"/>
                </a:solidFill>
                <a:latin typeface="Poppins"/>
                <a:ea typeface="Poppins"/>
                <a:cs typeface="Poppins"/>
                <a:sym typeface="Poppins"/>
              </a:rPr>
              <a:t>inline-block</a:t>
            </a:r>
          </a:p>
          <a:p>
            <a:pPr algn="just" marL="951057" indent="-475528" lvl="1">
              <a:lnSpc>
                <a:spcPts val="6167"/>
              </a:lnSpc>
              <a:buFont typeface="Arial"/>
              <a:buChar char="•"/>
            </a:pPr>
            <a:r>
              <a:rPr lang="en-US" sz="4405">
                <a:solidFill>
                  <a:srgbClr val="FFFFFF"/>
                </a:solidFill>
                <a:latin typeface="Poppins"/>
                <a:ea typeface="Poppins"/>
                <a:cs typeface="Poppins"/>
                <a:sym typeface="Poppins"/>
              </a:rPr>
              <a:t>none</a:t>
            </a:r>
          </a:p>
          <a:p>
            <a:pPr algn="just">
              <a:lnSpc>
                <a:spcPts val="6167"/>
              </a:lnSpc>
              <a:spcBef>
                <a:spcPct val="0"/>
              </a:spcBef>
            </a:pP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482264" y="0"/>
            <a:ext cx="19271578" cy="10287000"/>
            <a:chOff x="0" y="0"/>
            <a:chExt cx="5075642" cy="2709333"/>
          </a:xfrm>
        </p:grpSpPr>
        <p:sp>
          <p:nvSpPr>
            <p:cNvPr name="Freeform 4" id="4"/>
            <p:cNvSpPr/>
            <p:nvPr/>
          </p:nvSpPr>
          <p:spPr>
            <a:xfrm flipH="false" flipV="false" rot="0">
              <a:off x="0" y="0"/>
              <a:ext cx="5075642" cy="2709333"/>
            </a:xfrm>
            <a:custGeom>
              <a:avLst/>
              <a:gdLst/>
              <a:ahLst/>
              <a:cxnLst/>
              <a:rect r="r" b="b" t="t" l="l"/>
              <a:pathLst>
                <a:path h="2709333" w="5075642">
                  <a:moveTo>
                    <a:pt x="0" y="0"/>
                  </a:moveTo>
                  <a:lnTo>
                    <a:pt x="5075642" y="0"/>
                  </a:lnTo>
                  <a:lnTo>
                    <a:pt x="5075642" y="2709333"/>
                  </a:lnTo>
                  <a:lnTo>
                    <a:pt x="0" y="2709333"/>
                  </a:lnTo>
                  <a:close/>
                </a:path>
              </a:pathLst>
            </a:custGeom>
            <a:solidFill>
              <a:srgbClr val="004AAD"/>
            </a:solidFill>
          </p:spPr>
        </p:sp>
        <p:sp>
          <p:nvSpPr>
            <p:cNvPr name="TextBox 5" id="5"/>
            <p:cNvSpPr txBox="true"/>
            <p:nvPr/>
          </p:nvSpPr>
          <p:spPr>
            <a:xfrm>
              <a:off x="0" y="-47625"/>
              <a:ext cx="5075642" cy="2756958"/>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111708" y="2732470"/>
            <a:ext cx="12228929" cy="4698236"/>
          </a:xfrm>
          <a:prstGeom prst="rect">
            <a:avLst/>
          </a:prstGeom>
        </p:spPr>
        <p:txBody>
          <a:bodyPr anchor="t" rtlCol="false" tIns="0" lIns="0" bIns="0" rIns="0">
            <a:spAutoFit/>
          </a:bodyPr>
          <a:lstStyle/>
          <a:p>
            <a:pPr algn="just">
              <a:lnSpc>
                <a:spcPts val="6167"/>
              </a:lnSpc>
            </a:pPr>
            <a:r>
              <a:rPr lang="en-US" sz="4405">
                <a:solidFill>
                  <a:srgbClr val="FFFFFF"/>
                </a:solidFill>
                <a:latin typeface="Poppins"/>
                <a:ea typeface="Poppins"/>
                <a:cs typeface="Poppins"/>
                <a:sym typeface="Poppins"/>
              </a:rPr>
              <a:t>Flexbox digunakan untuk layout satu arah.</a:t>
            </a:r>
          </a:p>
          <a:p>
            <a:pPr algn="just">
              <a:lnSpc>
                <a:spcPts val="6167"/>
              </a:lnSpc>
            </a:pPr>
            <a:r>
              <a:rPr lang="en-US" sz="4405">
                <a:solidFill>
                  <a:srgbClr val="FFFFFF"/>
                </a:solidFill>
                <a:latin typeface="Poppins"/>
                <a:ea typeface="Poppins"/>
                <a:cs typeface="Poppins"/>
                <a:sym typeface="Poppins"/>
              </a:rPr>
              <a:t>Kelebihan:</a:t>
            </a:r>
          </a:p>
          <a:p>
            <a:pPr algn="just" marL="951057" indent="-475528" lvl="1">
              <a:lnSpc>
                <a:spcPts val="6167"/>
              </a:lnSpc>
              <a:buFont typeface="Arial"/>
              <a:buChar char="•"/>
            </a:pPr>
            <a:r>
              <a:rPr lang="en-US" sz="4405">
                <a:solidFill>
                  <a:srgbClr val="FFFFFF"/>
                </a:solidFill>
                <a:latin typeface="Poppins"/>
                <a:ea typeface="Poppins"/>
                <a:cs typeface="Poppins"/>
                <a:sym typeface="Poppins"/>
              </a:rPr>
              <a:t>Mudah center elemen</a:t>
            </a:r>
          </a:p>
          <a:p>
            <a:pPr algn="just" marL="951057" indent="-475528" lvl="1">
              <a:lnSpc>
                <a:spcPts val="6167"/>
              </a:lnSpc>
              <a:buFont typeface="Arial"/>
              <a:buChar char="•"/>
            </a:pPr>
            <a:r>
              <a:rPr lang="en-US" sz="4405">
                <a:solidFill>
                  <a:srgbClr val="FFFFFF"/>
                </a:solidFill>
                <a:latin typeface="Poppins"/>
                <a:ea typeface="Poppins"/>
                <a:cs typeface="Poppins"/>
                <a:sym typeface="Poppins"/>
              </a:rPr>
              <a:t>Cocok navbar</a:t>
            </a:r>
          </a:p>
          <a:p>
            <a:pPr algn="just" marL="951057" indent="-475528" lvl="1">
              <a:lnSpc>
                <a:spcPts val="6167"/>
              </a:lnSpc>
              <a:buFont typeface="Arial"/>
              <a:buChar char="•"/>
            </a:pPr>
            <a:r>
              <a:rPr lang="en-US" sz="4405">
                <a:solidFill>
                  <a:srgbClr val="FFFFFF"/>
                </a:solidFill>
                <a:latin typeface="Poppins"/>
                <a:ea typeface="Poppins"/>
                <a:cs typeface="Poppins"/>
                <a:sym typeface="Poppins"/>
              </a:rPr>
              <a:t>Responsive</a:t>
            </a:r>
          </a:p>
          <a:p>
            <a:pPr algn="just">
              <a:lnSpc>
                <a:spcPts val="6167"/>
              </a:lnSpc>
              <a:spcBef>
                <a:spcPct val="0"/>
              </a:spcBef>
            </a:pPr>
          </a:p>
        </p:txBody>
      </p:sp>
      <p:sp>
        <p:nvSpPr>
          <p:cNvPr name="Freeform 7" id="7"/>
          <p:cNvSpPr/>
          <p:nvPr/>
        </p:nvSpPr>
        <p:spPr>
          <a:xfrm flipH="false" flipV="false" rot="0">
            <a:off x="3194717" y="6994659"/>
            <a:ext cx="5031456" cy="2820050"/>
          </a:xfrm>
          <a:custGeom>
            <a:avLst/>
            <a:gdLst/>
            <a:ahLst/>
            <a:cxnLst/>
            <a:rect r="r" b="b" t="t" l="l"/>
            <a:pathLst>
              <a:path h="2820050" w="5031456">
                <a:moveTo>
                  <a:pt x="0" y="0"/>
                </a:moveTo>
                <a:lnTo>
                  <a:pt x="5031456" y="0"/>
                </a:lnTo>
                <a:lnTo>
                  <a:pt x="5031456" y="2820050"/>
                </a:lnTo>
                <a:lnTo>
                  <a:pt x="0" y="2820050"/>
                </a:lnTo>
                <a:lnTo>
                  <a:pt x="0" y="0"/>
                </a:lnTo>
                <a:close/>
              </a:path>
            </a:pathLst>
          </a:custGeom>
          <a:blipFill>
            <a:blip r:embed="rId3"/>
            <a:stretch>
              <a:fillRect l="0" t="0" r="0" b="0"/>
            </a:stretch>
          </a:blipFill>
        </p:spPr>
      </p:sp>
      <p:sp>
        <p:nvSpPr>
          <p:cNvPr name="TextBox 8" id="8"/>
          <p:cNvSpPr txBox="true"/>
          <p:nvPr/>
        </p:nvSpPr>
        <p:spPr>
          <a:xfrm rot="0">
            <a:off x="7413504" y="933450"/>
            <a:ext cx="3460992" cy="855023"/>
          </a:xfrm>
          <a:prstGeom prst="rect">
            <a:avLst/>
          </a:prstGeom>
        </p:spPr>
        <p:txBody>
          <a:bodyPr anchor="t" rtlCol="false" tIns="0" lIns="0" bIns="0" rIns="0">
            <a:spAutoFit/>
          </a:bodyPr>
          <a:lstStyle/>
          <a:p>
            <a:pPr algn="l">
              <a:lnSpc>
                <a:spcPts val="7063"/>
              </a:lnSpc>
            </a:pPr>
            <a:r>
              <a:rPr lang="en-US" b="true" sz="5045">
                <a:solidFill>
                  <a:srgbClr val="FFFFFF"/>
                </a:solidFill>
                <a:latin typeface="League Spartan"/>
                <a:ea typeface="League Spartan"/>
                <a:cs typeface="League Spartan"/>
                <a:sym typeface="League Spartan"/>
              </a:rPr>
              <a:t>FLEXBOX</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60313" y="3422781"/>
            <a:ext cx="15967374" cy="5835519"/>
            <a:chOff x="0" y="0"/>
            <a:chExt cx="4205399" cy="1536927"/>
          </a:xfrm>
        </p:grpSpPr>
        <p:sp>
          <p:nvSpPr>
            <p:cNvPr name="Freeform 4" id="4"/>
            <p:cNvSpPr/>
            <p:nvPr/>
          </p:nvSpPr>
          <p:spPr>
            <a:xfrm flipH="false" flipV="false" rot="0">
              <a:off x="0" y="0"/>
              <a:ext cx="4205399" cy="1536927"/>
            </a:xfrm>
            <a:custGeom>
              <a:avLst/>
              <a:gdLst/>
              <a:ahLst/>
              <a:cxnLst/>
              <a:rect r="r" b="b" t="t" l="l"/>
              <a:pathLst>
                <a:path h="1536927" w="4205399">
                  <a:moveTo>
                    <a:pt x="24728" y="0"/>
                  </a:moveTo>
                  <a:lnTo>
                    <a:pt x="4180671" y="0"/>
                  </a:lnTo>
                  <a:cubicBezTo>
                    <a:pt x="4194328" y="0"/>
                    <a:pt x="4205399" y="11071"/>
                    <a:pt x="4205399" y="24728"/>
                  </a:cubicBezTo>
                  <a:lnTo>
                    <a:pt x="4205399" y="1512199"/>
                  </a:lnTo>
                  <a:cubicBezTo>
                    <a:pt x="4205399" y="1518757"/>
                    <a:pt x="4202793" y="1525047"/>
                    <a:pt x="4198156" y="1529684"/>
                  </a:cubicBezTo>
                  <a:cubicBezTo>
                    <a:pt x="4193519" y="1534322"/>
                    <a:pt x="4187229" y="1536927"/>
                    <a:pt x="4180671" y="1536927"/>
                  </a:cubicBezTo>
                  <a:lnTo>
                    <a:pt x="24728" y="1536927"/>
                  </a:lnTo>
                  <a:cubicBezTo>
                    <a:pt x="18170" y="1536927"/>
                    <a:pt x="11880" y="1534322"/>
                    <a:pt x="7243" y="1529684"/>
                  </a:cubicBezTo>
                  <a:cubicBezTo>
                    <a:pt x="2605" y="1525047"/>
                    <a:pt x="0" y="1518757"/>
                    <a:pt x="0" y="1512199"/>
                  </a:cubicBezTo>
                  <a:lnTo>
                    <a:pt x="0" y="24728"/>
                  </a:lnTo>
                  <a:cubicBezTo>
                    <a:pt x="0" y="18170"/>
                    <a:pt x="2605" y="11880"/>
                    <a:pt x="7243" y="7243"/>
                  </a:cubicBezTo>
                  <a:cubicBezTo>
                    <a:pt x="11880" y="2605"/>
                    <a:pt x="18170" y="0"/>
                    <a:pt x="24728" y="0"/>
                  </a:cubicBezTo>
                  <a:close/>
                </a:path>
              </a:pathLst>
            </a:custGeom>
            <a:solidFill>
              <a:srgbClr val="004AAD"/>
            </a:solidFill>
          </p:spPr>
        </p:sp>
        <p:sp>
          <p:nvSpPr>
            <p:cNvPr name="TextBox 5" id="5"/>
            <p:cNvSpPr txBox="true"/>
            <p:nvPr/>
          </p:nvSpPr>
          <p:spPr>
            <a:xfrm>
              <a:off x="0" y="-47625"/>
              <a:ext cx="4205399" cy="158455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4731616" y="1235605"/>
            <a:ext cx="8824768" cy="1236184"/>
          </a:xfrm>
          <a:prstGeom prst="rect">
            <a:avLst/>
          </a:prstGeom>
        </p:spPr>
        <p:txBody>
          <a:bodyPr anchor="t" rtlCol="false" tIns="0" lIns="0" bIns="0" rIns="0">
            <a:spAutoFit/>
          </a:bodyPr>
          <a:lstStyle/>
          <a:p>
            <a:pPr algn="ctr">
              <a:lnSpc>
                <a:spcPts val="10153"/>
              </a:lnSpc>
            </a:pPr>
            <a:r>
              <a:rPr lang="en-US" sz="7252">
                <a:solidFill>
                  <a:srgbClr val="004AAD"/>
                </a:solidFill>
                <a:latin typeface="League Spartan"/>
                <a:ea typeface="League Spartan"/>
                <a:cs typeface="League Spartan"/>
                <a:sym typeface="League Spartan"/>
              </a:rPr>
              <a:t>CSS GRID</a:t>
            </a:r>
          </a:p>
        </p:txBody>
      </p:sp>
      <p:sp>
        <p:nvSpPr>
          <p:cNvPr name="TextBox 7" id="7"/>
          <p:cNvSpPr txBox="true"/>
          <p:nvPr/>
        </p:nvSpPr>
        <p:spPr>
          <a:xfrm rot="0">
            <a:off x="2845722" y="4159896"/>
            <a:ext cx="11576335" cy="4763169"/>
          </a:xfrm>
          <a:prstGeom prst="rect">
            <a:avLst/>
          </a:prstGeom>
        </p:spPr>
        <p:txBody>
          <a:bodyPr anchor="t" rtlCol="false" tIns="0" lIns="0" bIns="0" rIns="0">
            <a:spAutoFit/>
          </a:bodyPr>
          <a:lstStyle/>
          <a:p>
            <a:pPr algn="just">
              <a:lnSpc>
                <a:spcPts val="6263"/>
              </a:lnSpc>
            </a:pPr>
            <a:r>
              <a:rPr lang="en-US" sz="4473">
                <a:solidFill>
                  <a:srgbClr val="E5E5E5"/>
                </a:solidFill>
                <a:latin typeface="Poppins"/>
                <a:ea typeface="Poppins"/>
                <a:cs typeface="Poppins"/>
                <a:sym typeface="Poppins"/>
              </a:rPr>
              <a:t>Gr</a:t>
            </a:r>
            <a:r>
              <a:rPr lang="en-US" sz="4473">
                <a:solidFill>
                  <a:srgbClr val="E5E5E5"/>
                </a:solidFill>
                <a:latin typeface="Poppins"/>
                <a:ea typeface="Poppins"/>
                <a:cs typeface="Poppins"/>
                <a:sym typeface="Poppins"/>
              </a:rPr>
              <a:t>id digunakan untuk layout dua arah.</a:t>
            </a:r>
          </a:p>
          <a:p>
            <a:pPr algn="just">
              <a:lnSpc>
                <a:spcPts val="6263"/>
              </a:lnSpc>
            </a:pPr>
            <a:r>
              <a:rPr lang="en-US" sz="4473">
                <a:solidFill>
                  <a:srgbClr val="E5E5E5"/>
                </a:solidFill>
                <a:latin typeface="Poppins"/>
                <a:ea typeface="Poppins"/>
                <a:cs typeface="Poppins"/>
                <a:sym typeface="Poppins"/>
              </a:rPr>
              <a:t>Kelebihan:</a:t>
            </a:r>
          </a:p>
          <a:p>
            <a:pPr algn="just" marL="965866" indent="-482933" lvl="1">
              <a:lnSpc>
                <a:spcPts val="6263"/>
              </a:lnSpc>
              <a:buFont typeface="Arial"/>
              <a:buChar char="•"/>
            </a:pPr>
            <a:r>
              <a:rPr lang="en-US" sz="4473">
                <a:solidFill>
                  <a:srgbClr val="E5E5E5"/>
                </a:solidFill>
                <a:latin typeface="Poppins"/>
                <a:ea typeface="Poppins"/>
                <a:cs typeface="Poppins"/>
                <a:sym typeface="Poppins"/>
              </a:rPr>
              <a:t>Baris + kolom</a:t>
            </a:r>
          </a:p>
          <a:p>
            <a:pPr algn="just" marL="965866" indent="-482933" lvl="1">
              <a:lnSpc>
                <a:spcPts val="6263"/>
              </a:lnSpc>
              <a:buFont typeface="Arial"/>
              <a:buChar char="•"/>
            </a:pPr>
            <a:r>
              <a:rPr lang="en-US" sz="4473">
                <a:solidFill>
                  <a:srgbClr val="E5E5E5"/>
                </a:solidFill>
                <a:latin typeface="Poppins"/>
                <a:ea typeface="Poppins"/>
                <a:cs typeface="Poppins"/>
                <a:sym typeface="Poppins"/>
              </a:rPr>
              <a:t>Cocok dashboard</a:t>
            </a:r>
          </a:p>
          <a:p>
            <a:pPr algn="just" marL="965866" indent="-482933" lvl="1">
              <a:lnSpc>
                <a:spcPts val="6263"/>
              </a:lnSpc>
              <a:buFont typeface="Arial"/>
              <a:buChar char="•"/>
            </a:pPr>
            <a:r>
              <a:rPr lang="en-US" sz="4473">
                <a:solidFill>
                  <a:srgbClr val="E5E5E5"/>
                </a:solidFill>
                <a:latin typeface="Poppins"/>
                <a:ea typeface="Poppins"/>
                <a:cs typeface="Poppins"/>
                <a:sym typeface="Poppins"/>
              </a:rPr>
              <a:t>Lebih kompleks</a:t>
            </a:r>
          </a:p>
          <a:p>
            <a:pPr algn="just">
              <a:lnSpc>
                <a:spcPts val="6263"/>
              </a:lnSpc>
              <a:spcBef>
                <a:spcPct val="0"/>
              </a:spcBef>
            </a:pP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160313" y="3422781"/>
            <a:ext cx="15967374" cy="5835519"/>
            <a:chOff x="0" y="0"/>
            <a:chExt cx="4205399" cy="1536927"/>
          </a:xfrm>
        </p:grpSpPr>
        <p:sp>
          <p:nvSpPr>
            <p:cNvPr name="Freeform 4" id="4"/>
            <p:cNvSpPr/>
            <p:nvPr/>
          </p:nvSpPr>
          <p:spPr>
            <a:xfrm flipH="false" flipV="false" rot="0">
              <a:off x="0" y="0"/>
              <a:ext cx="4205399" cy="1536927"/>
            </a:xfrm>
            <a:custGeom>
              <a:avLst/>
              <a:gdLst/>
              <a:ahLst/>
              <a:cxnLst/>
              <a:rect r="r" b="b" t="t" l="l"/>
              <a:pathLst>
                <a:path h="1536927" w="4205399">
                  <a:moveTo>
                    <a:pt x="24728" y="0"/>
                  </a:moveTo>
                  <a:lnTo>
                    <a:pt x="4180671" y="0"/>
                  </a:lnTo>
                  <a:cubicBezTo>
                    <a:pt x="4194328" y="0"/>
                    <a:pt x="4205399" y="11071"/>
                    <a:pt x="4205399" y="24728"/>
                  </a:cubicBezTo>
                  <a:lnTo>
                    <a:pt x="4205399" y="1512199"/>
                  </a:lnTo>
                  <a:cubicBezTo>
                    <a:pt x="4205399" y="1518757"/>
                    <a:pt x="4202793" y="1525047"/>
                    <a:pt x="4198156" y="1529684"/>
                  </a:cubicBezTo>
                  <a:cubicBezTo>
                    <a:pt x="4193519" y="1534322"/>
                    <a:pt x="4187229" y="1536927"/>
                    <a:pt x="4180671" y="1536927"/>
                  </a:cubicBezTo>
                  <a:lnTo>
                    <a:pt x="24728" y="1536927"/>
                  </a:lnTo>
                  <a:cubicBezTo>
                    <a:pt x="18170" y="1536927"/>
                    <a:pt x="11880" y="1534322"/>
                    <a:pt x="7243" y="1529684"/>
                  </a:cubicBezTo>
                  <a:cubicBezTo>
                    <a:pt x="2605" y="1525047"/>
                    <a:pt x="0" y="1518757"/>
                    <a:pt x="0" y="1512199"/>
                  </a:cubicBezTo>
                  <a:lnTo>
                    <a:pt x="0" y="24728"/>
                  </a:lnTo>
                  <a:cubicBezTo>
                    <a:pt x="0" y="18170"/>
                    <a:pt x="2605" y="11880"/>
                    <a:pt x="7243" y="7243"/>
                  </a:cubicBezTo>
                  <a:cubicBezTo>
                    <a:pt x="11880" y="2605"/>
                    <a:pt x="18170" y="0"/>
                    <a:pt x="24728" y="0"/>
                  </a:cubicBezTo>
                  <a:close/>
                </a:path>
              </a:pathLst>
            </a:custGeom>
            <a:solidFill>
              <a:srgbClr val="004AAD"/>
            </a:solidFill>
          </p:spPr>
        </p:sp>
        <p:sp>
          <p:nvSpPr>
            <p:cNvPr name="TextBox 5" id="5"/>
            <p:cNvSpPr txBox="true"/>
            <p:nvPr/>
          </p:nvSpPr>
          <p:spPr>
            <a:xfrm>
              <a:off x="0" y="-47625"/>
              <a:ext cx="4205399" cy="1584552"/>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3796413" y="1405642"/>
            <a:ext cx="10695174" cy="1236184"/>
          </a:xfrm>
          <a:prstGeom prst="rect">
            <a:avLst/>
          </a:prstGeom>
        </p:spPr>
        <p:txBody>
          <a:bodyPr anchor="t" rtlCol="false" tIns="0" lIns="0" bIns="0" rIns="0">
            <a:spAutoFit/>
          </a:bodyPr>
          <a:lstStyle/>
          <a:p>
            <a:pPr algn="ctr">
              <a:lnSpc>
                <a:spcPts val="10153"/>
              </a:lnSpc>
            </a:pPr>
            <a:r>
              <a:rPr lang="en-US" sz="7252">
                <a:solidFill>
                  <a:srgbClr val="004AAD"/>
                </a:solidFill>
                <a:latin typeface="League Spartan"/>
                <a:ea typeface="League Spartan"/>
                <a:cs typeface="League Spartan"/>
                <a:sym typeface="League Spartan"/>
              </a:rPr>
              <a:t>STRUKTUR WEBSITE</a:t>
            </a:r>
          </a:p>
        </p:txBody>
      </p:sp>
      <p:sp>
        <p:nvSpPr>
          <p:cNvPr name="TextBox 7" id="7"/>
          <p:cNvSpPr txBox="true"/>
          <p:nvPr/>
        </p:nvSpPr>
        <p:spPr>
          <a:xfrm rot="0">
            <a:off x="2718194" y="4287569"/>
            <a:ext cx="10981206" cy="3972594"/>
          </a:xfrm>
          <a:prstGeom prst="rect">
            <a:avLst/>
          </a:prstGeom>
        </p:spPr>
        <p:txBody>
          <a:bodyPr anchor="t" rtlCol="false" tIns="0" lIns="0" bIns="0" rIns="0">
            <a:spAutoFit/>
          </a:bodyPr>
          <a:lstStyle/>
          <a:p>
            <a:pPr algn="just">
              <a:lnSpc>
                <a:spcPts val="6263"/>
              </a:lnSpc>
            </a:pPr>
            <a:r>
              <a:rPr lang="en-US" sz="4473">
                <a:solidFill>
                  <a:srgbClr val="E5E5E5"/>
                </a:solidFill>
                <a:latin typeface="Poppins"/>
                <a:ea typeface="Poppins"/>
                <a:cs typeface="Poppins"/>
                <a:sym typeface="Poppins"/>
              </a:rPr>
              <a:t>Webs</a:t>
            </a:r>
            <a:r>
              <a:rPr lang="en-US" sz="4473">
                <a:solidFill>
                  <a:srgbClr val="E5E5E5"/>
                </a:solidFill>
                <a:latin typeface="Poppins"/>
                <a:ea typeface="Poppins"/>
                <a:cs typeface="Poppins"/>
                <a:sym typeface="Poppins"/>
              </a:rPr>
              <a:t>ite umumnya memiliki struktur:</a:t>
            </a:r>
          </a:p>
          <a:p>
            <a:pPr algn="just">
              <a:lnSpc>
                <a:spcPts val="6263"/>
              </a:lnSpc>
            </a:pPr>
            <a:r>
              <a:rPr lang="en-US" sz="4473">
                <a:solidFill>
                  <a:srgbClr val="E5E5E5"/>
                </a:solidFill>
                <a:latin typeface="Poppins"/>
                <a:ea typeface="Poppins"/>
                <a:cs typeface="Poppins"/>
                <a:sym typeface="Poppins"/>
              </a:rPr>
              <a:t>Komponen:</a:t>
            </a:r>
          </a:p>
          <a:p>
            <a:pPr algn="just" marL="965866" indent="-482933" lvl="1">
              <a:lnSpc>
                <a:spcPts val="6263"/>
              </a:lnSpc>
              <a:buFont typeface="Arial"/>
              <a:buChar char="•"/>
            </a:pPr>
            <a:r>
              <a:rPr lang="en-US" sz="4473">
                <a:solidFill>
                  <a:srgbClr val="E5E5E5"/>
                </a:solidFill>
                <a:latin typeface="Poppins"/>
                <a:ea typeface="Poppins"/>
                <a:cs typeface="Poppins"/>
                <a:sym typeface="Poppins"/>
              </a:rPr>
              <a:t>Header</a:t>
            </a:r>
          </a:p>
          <a:p>
            <a:pPr algn="just" marL="965866" indent="-482933" lvl="1">
              <a:lnSpc>
                <a:spcPts val="6263"/>
              </a:lnSpc>
              <a:buFont typeface="Arial"/>
              <a:buChar char="•"/>
            </a:pPr>
            <a:r>
              <a:rPr lang="en-US" sz="4473">
                <a:solidFill>
                  <a:srgbClr val="E5E5E5"/>
                </a:solidFill>
                <a:latin typeface="Poppins"/>
                <a:ea typeface="Poppins"/>
                <a:cs typeface="Poppins"/>
                <a:sym typeface="Poppins"/>
              </a:rPr>
              <a:t>N</a:t>
            </a:r>
            <a:r>
              <a:rPr lang="en-US" sz="4473">
                <a:solidFill>
                  <a:srgbClr val="E5E5E5"/>
                </a:solidFill>
                <a:latin typeface="Poppins"/>
                <a:ea typeface="Poppins"/>
                <a:cs typeface="Poppins"/>
                <a:sym typeface="Poppins"/>
              </a:rPr>
              <a:t>avbar</a:t>
            </a:r>
          </a:p>
          <a:p>
            <a:pPr algn="just" marL="965866" indent="-482933" lvl="1">
              <a:lnSpc>
                <a:spcPts val="6263"/>
              </a:lnSpc>
              <a:spcBef>
                <a:spcPct val="0"/>
              </a:spcBef>
              <a:buFont typeface="Arial"/>
              <a:buChar char="•"/>
            </a:pPr>
            <a:r>
              <a:rPr lang="en-US" sz="4473">
                <a:solidFill>
                  <a:srgbClr val="E5E5E5"/>
                </a:solidFill>
                <a:latin typeface="Poppins"/>
                <a:ea typeface="Poppins"/>
                <a:cs typeface="Poppins"/>
                <a:sym typeface="Poppins"/>
              </a:rPr>
              <a:t>Cont</a:t>
            </a:r>
            <a:r>
              <a:rPr lang="en-US" sz="4473">
                <a:solidFill>
                  <a:srgbClr val="E5E5E5"/>
                </a:solidFill>
                <a:latin typeface="Poppins"/>
                <a:ea typeface="Poppins"/>
                <a:cs typeface="Poppins"/>
                <a:sym typeface="Poppins"/>
              </a:rPr>
              <a:t>ent</a:t>
            </a:r>
          </a:p>
        </p:txBody>
      </p:sp>
      <p:sp>
        <p:nvSpPr>
          <p:cNvPr name="TextBox 8" id="8"/>
          <p:cNvSpPr txBox="true"/>
          <p:nvPr/>
        </p:nvSpPr>
        <p:spPr>
          <a:xfrm rot="0">
            <a:off x="8208797" y="5891741"/>
            <a:ext cx="3155513" cy="1600869"/>
          </a:xfrm>
          <a:prstGeom prst="rect">
            <a:avLst/>
          </a:prstGeom>
        </p:spPr>
        <p:txBody>
          <a:bodyPr anchor="t" rtlCol="false" tIns="0" lIns="0" bIns="0" rIns="0">
            <a:spAutoFit/>
          </a:bodyPr>
          <a:lstStyle/>
          <a:p>
            <a:pPr algn="l" marL="965866" indent="-482933" lvl="1">
              <a:lnSpc>
                <a:spcPts val="6263"/>
              </a:lnSpc>
              <a:buFont typeface="Arial"/>
              <a:buChar char="•"/>
            </a:pPr>
            <a:r>
              <a:rPr lang="en-US" sz="4473">
                <a:solidFill>
                  <a:srgbClr val="FFFFFF"/>
                </a:solidFill>
                <a:latin typeface="Poppins"/>
                <a:ea typeface="Poppins"/>
                <a:cs typeface="Poppins"/>
                <a:sym typeface="Poppins"/>
              </a:rPr>
              <a:t>Sidebar</a:t>
            </a:r>
          </a:p>
          <a:p>
            <a:pPr algn="l" marL="965866" indent="-482933" lvl="1">
              <a:lnSpc>
                <a:spcPts val="6263"/>
              </a:lnSpc>
              <a:buFont typeface="Arial"/>
              <a:buChar char="•"/>
            </a:pPr>
            <a:r>
              <a:rPr lang="en-US" sz="4473">
                <a:solidFill>
                  <a:srgbClr val="FFFFFF"/>
                </a:solidFill>
                <a:latin typeface="Poppins"/>
                <a:ea typeface="Poppins"/>
                <a:cs typeface="Poppins"/>
                <a:sym typeface="Poppins"/>
              </a:rPr>
              <a:t>Footer</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482264" y="0"/>
            <a:ext cx="19271578" cy="10287000"/>
            <a:chOff x="0" y="0"/>
            <a:chExt cx="5075642" cy="2709333"/>
          </a:xfrm>
        </p:grpSpPr>
        <p:sp>
          <p:nvSpPr>
            <p:cNvPr name="Freeform 4" id="4"/>
            <p:cNvSpPr/>
            <p:nvPr/>
          </p:nvSpPr>
          <p:spPr>
            <a:xfrm flipH="false" flipV="false" rot="0">
              <a:off x="0" y="0"/>
              <a:ext cx="5075642" cy="2709333"/>
            </a:xfrm>
            <a:custGeom>
              <a:avLst/>
              <a:gdLst/>
              <a:ahLst/>
              <a:cxnLst/>
              <a:rect r="r" b="b" t="t" l="l"/>
              <a:pathLst>
                <a:path h="2709333" w="5075642">
                  <a:moveTo>
                    <a:pt x="0" y="0"/>
                  </a:moveTo>
                  <a:lnTo>
                    <a:pt x="5075642" y="0"/>
                  </a:lnTo>
                  <a:lnTo>
                    <a:pt x="5075642" y="2709333"/>
                  </a:lnTo>
                  <a:lnTo>
                    <a:pt x="0" y="2709333"/>
                  </a:lnTo>
                  <a:close/>
                </a:path>
              </a:pathLst>
            </a:custGeom>
            <a:solidFill>
              <a:srgbClr val="004AAD"/>
            </a:solidFill>
          </p:spPr>
        </p:sp>
        <p:sp>
          <p:nvSpPr>
            <p:cNvPr name="TextBox 5" id="5"/>
            <p:cNvSpPr txBox="true"/>
            <p:nvPr/>
          </p:nvSpPr>
          <p:spPr>
            <a:xfrm>
              <a:off x="0" y="-47625"/>
              <a:ext cx="5075642" cy="2756958"/>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5203677" y="1669610"/>
            <a:ext cx="7880646" cy="855023"/>
          </a:xfrm>
          <a:prstGeom prst="rect">
            <a:avLst/>
          </a:prstGeom>
        </p:spPr>
        <p:txBody>
          <a:bodyPr anchor="t" rtlCol="false" tIns="0" lIns="0" bIns="0" rIns="0">
            <a:spAutoFit/>
          </a:bodyPr>
          <a:lstStyle/>
          <a:p>
            <a:pPr algn="l">
              <a:lnSpc>
                <a:spcPts val="7063"/>
              </a:lnSpc>
            </a:pPr>
            <a:r>
              <a:rPr lang="en-US" b="true" sz="5045">
                <a:solidFill>
                  <a:srgbClr val="FFFFFF"/>
                </a:solidFill>
                <a:latin typeface="League Spartan"/>
                <a:ea typeface="League Spartan"/>
                <a:cs typeface="League Spartan"/>
                <a:sym typeface="League Spartan"/>
              </a:rPr>
              <a:t>MANFAAT LAYOUTING</a:t>
            </a:r>
          </a:p>
        </p:txBody>
      </p:sp>
      <p:sp>
        <p:nvSpPr>
          <p:cNvPr name="TextBox 7" id="7"/>
          <p:cNvSpPr txBox="true"/>
          <p:nvPr/>
        </p:nvSpPr>
        <p:spPr>
          <a:xfrm rot="0">
            <a:off x="2690174" y="3779014"/>
            <a:ext cx="10969329" cy="5479286"/>
          </a:xfrm>
          <a:prstGeom prst="rect">
            <a:avLst/>
          </a:prstGeom>
        </p:spPr>
        <p:txBody>
          <a:bodyPr anchor="t" rtlCol="false" tIns="0" lIns="0" bIns="0" rIns="0">
            <a:spAutoFit/>
          </a:bodyPr>
          <a:lstStyle/>
          <a:p>
            <a:pPr algn="just">
              <a:lnSpc>
                <a:spcPts val="6167"/>
              </a:lnSpc>
            </a:pPr>
            <a:r>
              <a:rPr lang="en-US" sz="4405">
                <a:solidFill>
                  <a:srgbClr val="FFFFFF"/>
                </a:solidFill>
                <a:latin typeface="Poppins"/>
                <a:ea typeface="Poppins"/>
                <a:cs typeface="Poppins"/>
                <a:sym typeface="Poppins"/>
              </a:rPr>
              <a:t>Layouting penting dalam desain web.</a:t>
            </a:r>
          </a:p>
          <a:p>
            <a:pPr algn="just">
              <a:lnSpc>
                <a:spcPts val="6167"/>
              </a:lnSpc>
            </a:pPr>
            <a:r>
              <a:rPr lang="en-US" sz="4405">
                <a:solidFill>
                  <a:srgbClr val="FFFFFF"/>
                </a:solidFill>
                <a:latin typeface="Poppins"/>
                <a:ea typeface="Poppins"/>
                <a:cs typeface="Poppins"/>
                <a:sym typeface="Poppins"/>
              </a:rPr>
              <a:t>Manfaat:</a:t>
            </a:r>
          </a:p>
          <a:p>
            <a:pPr algn="just" marL="951057" indent="-475528" lvl="1">
              <a:lnSpc>
                <a:spcPts val="6167"/>
              </a:lnSpc>
              <a:buFont typeface="Arial"/>
              <a:buChar char="•"/>
            </a:pPr>
            <a:r>
              <a:rPr lang="en-US" sz="4405">
                <a:solidFill>
                  <a:srgbClr val="FFFFFF"/>
                </a:solidFill>
                <a:latin typeface="Poppins"/>
                <a:ea typeface="Poppins"/>
                <a:cs typeface="Poppins"/>
                <a:sym typeface="Poppins"/>
              </a:rPr>
              <a:t>Tampilan rapi</a:t>
            </a:r>
          </a:p>
          <a:p>
            <a:pPr algn="just" marL="951057" indent="-475528" lvl="1">
              <a:lnSpc>
                <a:spcPts val="6167"/>
              </a:lnSpc>
              <a:buFont typeface="Arial"/>
              <a:buChar char="•"/>
            </a:pPr>
            <a:r>
              <a:rPr lang="en-US" sz="4405">
                <a:solidFill>
                  <a:srgbClr val="FFFFFF"/>
                </a:solidFill>
                <a:latin typeface="Poppins"/>
                <a:ea typeface="Poppins"/>
                <a:cs typeface="Poppins"/>
                <a:sym typeface="Poppins"/>
              </a:rPr>
              <a:t>Mudah dibaca</a:t>
            </a:r>
          </a:p>
          <a:p>
            <a:pPr algn="just" marL="951057" indent="-475528" lvl="1">
              <a:lnSpc>
                <a:spcPts val="6167"/>
              </a:lnSpc>
              <a:buFont typeface="Arial"/>
              <a:buChar char="•"/>
            </a:pPr>
            <a:r>
              <a:rPr lang="en-US" sz="4405">
                <a:solidFill>
                  <a:srgbClr val="FFFFFF"/>
                </a:solidFill>
                <a:latin typeface="Poppins"/>
                <a:ea typeface="Poppins"/>
                <a:cs typeface="Poppins"/>
                <a:sym typeface="Poppins"/>
              </a:rPr>
              <a:t>User-frie</a:t>
            </a:r>
            <a:r>
              <a:rPr lang="en-US" sz="4405">
                <a:solidFill>
                  <a:srgbClr val="FFFFFF"/>
                </a:solidFill>
                <a:latin typeface="Poppins"/>
                <a:ea typeface="Poppins"/>
                <a:cs typeface="Poppins"/>
                <a:sym typeface="Poppins"/>
              </a:rPr>
              <a:t>ndly</a:t>
            </a:r>
          </a:p>
          <a:p>
            <a:pPr algn="just" marL="951057" indent="-475528" lvl="1">
              <a:lnSpc>
                <a:spcPts val="6167"/>
              </a:lnSpc>
              <a:buFont typeface="Arial"/>
              <a:buChar char="•"/>
            </a:pPr>
            <a:r>
              <a:rPr lang="en-US" sz="4405">
                <a:solidFill>
                  <a:srgbClr val="FFFFFF"/>
                </a:solidFill>
                <a:latin typeface="Poppins"/>
                <a:ea typeface="Poppins"/>
                <a:cs typeface="Poppins"/>
                <a:sym typeface="Poppins"/>
              </a:rPr>
              <a:t>Responsive</a:t>
            </a:r>
          </a:p>
          <a:p>
            <a:pPr algn="just">
              <a:lnSpc>
                <a:spcPts val="6167"/>
              </a:lnSpc>
              <a:spcBef>
                <a:spcPct val="0"/>
              </a:spcBef>
            </a:pP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6379957" cy="10287000"/>
            <a:chOff x="0" y="0"/>
            <a:chExt cx="1680318" cy="2709333"/>
          </a:xfrm>
        </p:grpSpPr>
        <p:sp>
          <p:nvSpPr>
            <p:cNvPr name="Freeform 4" id="4"/>
            <p:cNvSpPr/>
            <p:nvPr/>
          </p:nvSpPr>
          <p:spPr>
            <a:xfrm flipH="false" flipV="false" rot="0">
              <a:off x="0" y="0"/>
              <a:ext cx="1680318" cy="2709333"/>
            </a:xfrm>
            <a:custGeom>
              <a:avLst/>
              <a:gdLst/>
              <a:ahLst/>
              <a:cxnLst/>
              <a:rect r="r" b="b" t="t" l="l"/>
              <a:pathLst>
                <a:path h="2709333" w="1680318">
                  <a:moveTo>
                    <a:pt x="0" y="0"/>
                  </a:moveTo>
                  <a:lnTo>
                    <a:pt x="1680318" y="0"/>
                  </a:lnTo>
                  <a:lnTo>
                    <a:pt x="1680318" y="2709333"/>
                  </a:lnTo>
                  <a:lnTo>
                    <a:pt x="0" y="2709333"/>
                  </a:lnTo>
                  <a:close/>
                </a:path>
              </a:pathLst>
            </a:custGeom>
            <a:solidFill>
              <a:srgbClr val="004AAD"/>
            </a:solidFill>
          </p:spPr>
        </p:sp>
        <p:sp>
          <p:nvSpPr>
            <p:cNvPr name="TextBox 5" id="5"/>
            <p:cNvSpPr txBox="true"/>
            <p:nvPr/>
          </p:nvSpPr>
          <p:spPr>
            <a:xfrm>
              <a:off x="0" y="-47625"/>
              <a:ext cx="1680318" cy="2756958"/>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296457" y="253062"/>
            <a:ext cx="5864681" cy="2440137"/>
          </a:xfrm>
          <a:prstGeom prst="rect">
            <a:avLst/>
          </a:prstGeom>
        </p:spPr>
        <p:txBody>
          <a:bodyPr anchor="t" rtlCol="false" tIns="0" lIns="0" bIns="0" rIns="0">
            <a:spAutoFit/>
          </a:bodyPr>
          <a:lstStyle/>
          <a:p>
            <a:pPr algn="r">
              <a:lnSpc>
                <a:spcPts val="6531"/>
              </a:lnSpc>
            </a:pPr>
            <a:r>
              <a:rPr lang="en-US" b="true" sz="4665">
                <a:solidFill>
                  <a:srgbClr val="FFFFFF"/>
                </a:solidFill>
                <a:latin typeface="League Spartan"/>
                <a:ea typeface="League Spartan"/>
                <a:cs typeface="League Spartan"/>
                <a:sym typeface="League Spartan"/>
              </a:rPr>
              <a:t>STUDI KASUS SEDERHANA (PENERAPAN CSS)</a:t>
            </a:r>
          </a:p>
        </p:txBody>
      </p:sp>
      <p:grpSp>
        <p:nvGrpSpPr>
          <p:cNvPr name="Group 7" id="7"/>
          <p:cNvGrpSpPr/>
          <p:nvPr/>
        </p:nvGrpSpPr>
        <p:grpSpPr>
          <a:xfrm rot="0">
            <a:off x="6869064" y="4732157"/>
            <a:ext cx="10390236" cy="1365722"/>
            <a:chOff x="0" y="0"/>
            <a:chExt cx="13853648" cy="1820962"/>
          </a:xfrm>
        </p:grpSpPr>
        <p:grpSp>
          <p:nvGrpSpPr>
            <p:cNvPr name="Group 8" id="8"/>
            <p:cNvGrpSpPr/>
            <p:nvPr/>
          </p:nvGrpSpPr>
          <p:grpSpPr>
            <a:xfrm rot="0">
              <a:off x="0" y="0"/>
              <a:ext cx="1820962" cy="1820962"/>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10" id="10"/>
              <p:cNvSpPr txBox="true"/>
              <p:nvPr/>
            </p:nvSpPr>
            <p:spPr>
              <a:xfrm>
                <a:off x="76200" y="28575"/>
                <a:ext cx="660400" cy="708025"/>
              </a:xfrm>
              <a:prstGeom prst="rect">
                <a:avLst/>
              </a:prstGeom>
            </p:spPr>
            <p:txBody>
              <a:bodyPr anchor="ctr" rtlCol="false" tIns="45824" lIns="45824" bIns="45824" rIns="45824"/>
              <a:lstStyle/>
              <a:p>
                <a:pPr algn="ctr">
                  <a:lnSpc>
                    <a:spcPts val="2659"/>
                  </a:lnSpc>
                </a:pPr>
              </a:p>
            </p:txBody>
          </p:sp>
        </p:grpSp>
        <p:sp>
          <p:nvSpPr>
            <p:cNvPr name="TextBox 11" id="11"/>
            <p:cNvSpPr txBox="true"/>
            <p:nvPr/>
          </p:nvSpPr>
          <p:spPr>
            <a:xfrm rot="0">
              <a:off x="132243" y="354047"/>
              <a:ext cx="1460151" cy="1149780"/>
            </a:xfrm>
            <a:prstGeom prst="rect">
              <a:avLst/>
            </a:prstGeom>
          </p:spPr>
          <p:txBody>
            <a:bodyPr anchor="t" rtlCol="false" tIns="0" lIns="0" bIns="0" rIns="0">
              <a:spAutoFit/>
            </a:bodyPr>
            <a:lstStyle/>
            <a:p>
              <a:pPr algn="ctr">
                <a:lnSpc>
                  <a:spcPts val="7352"/>
                </a:lnSpc>
              </a:pPr>
              <a:r>
                <a:rPr lang="en-US" b="true" sz="5251">
                  <a:solidFill>
                    <a:srgbClr val="000000"/>
                  </a:solidFill>
                  <a:latin typeface="League Spartan"/>
                  <a:ea typeface="League Spartan"/>
                  <a:cs typeface="League Spartan"/>
                  <a:sym typeface="League Spartan"/>
                </a:rPr>
                <a:t>2</a:t>
              </a:r>
            </a:p>
          </p:txBody>
        </p:sp>
        <p:sp>
          <p:nvSpPr>
            <p:cNvPr name="TextBox 12" id="12"/>
            <p:cNvSpPr txBox="true"/>
            <p:nvPr/>
          </p:nvSpPr>
          <p:spPr>
            <a:xfrm rot="0">
              <a:off x="2358535" y="61323"/>
              <a:ext cx="11495114" cy="1603066"/>
            </a:xfrm>
            <a:prstGeom prst="rect">
              <a:avLst/>
            </a:prstGeom>
          </p:spPr>
          <p:txBody>
            <a:bodyPr anchor="t" rtlCol="false" tIns="0" lIns="0" bIns="0" rIns="0">
              <a:spAutoFit/>
            </a:bodyPr>
            <a:lstStyle/>
            <a:p>
              <a:pPr algn="just">
                <a:lnSpc>
                  <a:spcPts val="4869"/>
                </a:lnSpc>
                <a:spcBef>
                  <a:spcPct val="0"/>
                </a:spcBef>
              </a:pPr>
              <a:r>
                <a:rPr lang="en-US" sz="3477">
                  <a:solidFill>
                    <a:srgbClr val="000000"/>
                  </a:solidFill>
                  <a:latin typeface="Poppins"/>
                  <a:ea typeface="Poppins"/>
                  <a:cs typeface="Poppins"/>
                  <a:sym typeface="Poppins"/>
                </a:rPr>
                <a:t>Tombol chat menggunakan position: fixed di pojok layar</a:t>
              </a:r>
            </a:p>
          </p:txBody>
        </p:sp>
      </p:grpSp>
      <p:grpSp>
        <p:nvGrpSpPr>
          <p:cNvPr name="Group 13" id="13"/>
          <p:cNvGrpSpPr/>
          <p:nvPr/>
        </p:nvGrpSpPr>
        <p:grpSpPr>
          <a:xfrm rot="0">
            <a:off x="6869064" y="2988224"/>
            <a:ext cx="10390236" cy="1401033"/>
            <a:chOff x="0" y="0"/>
            <a:chExt cx="13853648" cy="1868045"/>
          </a:xfrm>
        </p:grpSpPr>
        <p:sp>
          <p:nvSpPr>
            <p:cNvPr name="TextBox 14" id="14"/>
            <p:cNvSpPr txBox="true"/>
            <p:nvPr/>
          </p:nvSpPr>
          <p:spPr>
            <a:xfrm rot="0">
              <a:off x="2358535" y="127240"/>
              <a:ext cx="11495114" cy="1603066"/>
            </a:xfrm>
            <a:prstGeom prst="rect">
              <a:avLst/>
            </a:prstGeom>
          </p:spPr>
          <p:txBody>
            <a:bodyPr anchor="t" rtlCol="false" tIns="0" lIns="0" bIns="0" rIns="0">
              <a:spAutoFit/>
            </a:bodyPr>
            <a:lstStyle/>
            <a:p>
              <a:pPr algn="l">
                <a:lnSpc>
                  <a:spcPts val="4869"/>
                </a:lnSpc>
                <a:spcBef>
                  <a:spcPct val="0"/>
                </a:spcBef>
              </a:pPr>
              <a:r>
                <a:rPr lang="en-US" sz="3477">
                  <a:solidFill>
                    <a:srgbClr val="000000"/>
                  </a:solidFill>
                  <a:latin typeface="Poppins"/>
                  <a:ea typeface="Poppins"/>
                  <a:cs typeface="Poppins"/>
                  <a:sym typeface="Poppins"/>
                </a:rPr>
                <a:t>Navbar menggunakan position: sticky agar tetap terlihat saat scroll</a:t>
              </a:r>
            </a:p>
          </p:txBody>
        </p:sp>
        <p:grpSp>
          <p:nvGrpSpPr>
            <p:cNvPr name="Group 15" id="15"/>
            <p:cNvGrpSpPr/>
            <p:nvPr/>
          </p:nvGrpSpPr>
          <p:grpSpPr>
            <a:xfrm rot="0">
              <a:off x="0" y="0"/>
              <a:ext cx="1868045" cy="1868045"/>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17" id="17"/>
              <p:cNvSpPr txBox="true"/>
              <p:nvPr/>
            </p:nvSpPr>
            <p:spPr>
              <a:xfrm>
                <a:off x="76200" y="28575"/>
                <a:ext cx="660400" cy="708025"/>
              </a:xfrm>
              <a:prstGeom prst="rect">
                <a:avLst/>
              </a:prstGeom>
            </p:spPr>
            <p:txBody>
              <a:bodyPr anchor="ctr" rtlCol="false" tIns="47009" lIns="47009" bIns="47009" rIns="47009"/>
              <a:lstStyle/>
              <a:p>
                <a:pPr algn="ctr">
                  <a:lnSpc>
                    <a:spcPts val="2660"/>
                  </a:lnSpc>
                </a:pPr>
              </a:p>
            </p:txBody>
          </p:sp>
        </p:grpSp>
        <p:sp>
          <p:nvSpPr>
            <p:cNvPr name="TextBox 18" id="18"/>
            <p:cNvSpPr txBox="true"/>
            <p:nvPr/>
          </p:nvSpPr>
          <p:spPr>
            <a:xfrm rot="0">
              <a:off x="135662" y="356139"/>
              <a:ext cx="1497905" cy="1186571"/>
            </a:xfrm>
            <a:prstGeom prst="rect">
              <a:avLst/>
            </a:prstGeom>
          </p:spPr>
          <p:txBody>
            <a:bodyPr anchor="t" rtlCol="false" tIns="0" lIns="0" bIns="0" rIns="0">
              <a:spAutoFit/>
            </a:bodyPr>
            <a:lstStyle/>
            <a:p>
              <a:pPr algn="ctr">
                <a:lnSpc>
                  <a:spcPts val="7542"/>
                </a:lnSpc>
              </a:pPr>
              <a:r>
                <a:rPr lang="en-US" b="true" sz="5387">
                  <a:solidFill>
                    <a:srgbClr val="000000"/>
                  </a:solidFill>
                  <a:latin typeface="League Spartan"/>
                  <a:ea typeface="League Spartan"/>
                  <a:cs typeface="League Spartan"/>
                  <a:sym typeface="League Spartan"/>
                </a:rPr>
                <a:t>1</a:t>
              </a:r>
            </a:p>
          </p:txBody>
        </p:sp>
      </p:grpSp>
      <p:grpSp>
        <p:nvGrpSpPr>
          <p:cNvPr name="Group 19" id="19"/>
          <p:cNvGrpSpPr/>
          <p:nvPr/>
        </p:nvGrpSpPr>
        <p:grpSpPr>
          <a:xfrm rot="0">
            <a:off x="6869064" y="6440779"/>
            <a:ext cx="10390236" cy="1365722"/>
            <a:chOff x="0" y="0"/>
            <a:chExt cx="13853648" cy="1820962"/>
          </a:xfrm>
        </p:grpSpPr>
        <p:grpSp>
          <p:nvGrpSpPr>
            <p:cNvPr name="Group 20" id="20"/>
            <p:cNvGrpSpPr/>
            <p:nvPr/>
          </p:nvGrpSpPr>
          <p:grpSpPr>
            <a:xfrm rot="0">
              <a:off x="0" y="0"/>
              <a:ext cx="1820962" cy="1820962"/>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22" id="22"/>
              <p:cNvSpPr txBox="true"/>
              <p:nvPr/>
            </p:nvSpPr>
            <p:spPr>
              <a:xfrm>
                <a:off x="76200" y="28575"/>
                <a:ext cx="660400" cy="708025"/>
              </a:xfrm>
              <a:prstGeom prst="rect">
                <a:avLst/>
              </a:prstGeom>
            </p:spPr>
            <p:txBody>
              <a:bodyPr anchor="ctr" rtlCol="false" tIns="45824" lIns="45824" bIns="45824" rIns="45824"/>
              <a:lstStyle/>
              <a:p>
                <a:pPr algn="ctr">
                  <a:lnSpc>
                    <a:spcPts val="2659"/>
                  </a:lnSpc>
                </a:pPr>
              </a:p>
            </p:txBody>
          </p:sp>
        </p:grpSp>
        <p:sp>
          <p:nvSpPr>
            <p:cNvPr name="TextBox 23" id="23"/>
            <p:cNvSpPr txBox="true"/>
            <p:nvPr/>
          </p:nvSpPr>
          <p:spPr>
            <a:xfrm rot="0">
              <a:off x="132243" y="354047"/>
              <a:ext cx="1460151" cy="1149780"/>
            </a:xfrm>
            <a:prstGeom prst="rect">
              <a:avLst/>
            </a:prstGeom>
          </p:spPr>
          <p:txBody>
            <a:bodyPr anchor="t" rtlCol="false" tIns="0" lIns="0" bIns="0" rIns="0">
              <a:spAutoFit/>
            </a:bodyPr>
            <a:lstStyle/>
            <a:p>
              <a:pPr algn="ctr">
                <a:lnSpc>
                  <a:spcPts val="7352"/>
                </a:lnSpc>
              </a:pPr>
              <a:r>
                <a:rPr lang="en-US" b="true" sz="5251">
                  <a:solidFill>
                    <a:srgbClr val="000000"/>
                  </a:solidFill>
                  <a:latin typeface="League Spartan"/>
                  <a:ea typeface="League Spartan"/>
                  <a:cs typeface="League Spartan"/>
                  <a:sym typeface="League Spartan"/>
                </a:rPr>
                <a:t>3</a:t>
              </a:r>
            </a:p>
          </p:txBody>
        </p:sp>
        <p:sp>
          <p:nvSpPr>
            <p:cNvPr name="TextBox 24" id="24"/>
            <p:cNvSpPr txBox="true"/>
            <p:nvPr/>
          </p:nvSpPr>
          <p:spPr>
            <a:xfrm rot="0">
              <a:off x="2358535" y="61323"/>
              <a:ext cx="11495114" cy="1603066"/>
            </a:xfrm>
            <a:prstGeom prst="rect">
              <a:avLst/>
            </a:prstGeom>
          </p:spPr>
          <p:txBody>
            <a:bodyPr anchor="t" rtlCol="false" tIns="0" lIns="0" bIns="0" rIns="0">
              <a:spAutoFit/>
            </a:bodyPr>
            <a:lstStyle/>
            <a:p>
              <a:pPr algn="l">
                <a:lnSpc>
                  <a:spcPts val="4869"/>
                </a:lnSpc>
                <a:spcBef>
                  <a:spcPct val="0"/>
                </a:spcBef>
              </a:pPr>
              <a:r>
                <a:rPr lang="en-US" sz="3477">
                  <a:solidFill>
                    <a:srgbClr val="000000"/>
                  </a:solidFill>
                  <a:latin typeface="Poppins"/>
                  <a:ea typeface="Poppins"/>
                  <a:cs typeface="Poppins"/>
                  <a:sym typeface="Poppins"/>
                </a:rPr>
                <a:t>Layout halaman menggunakan Flexbox atau Grid</a:t>
              </a:r>
            </a:p>
          </p:txBody>
        </p:sp>
      </p:grpSp>
      <p:grpSp>
        <p:nvGrpSpPr>
          <p:cNvPr name="Group 25" id="25"/>
          <p:cNvGrpSpPr/>
          <p:nvPr/>
        </p:nvGrpSpPr>
        <p:grpSpPr>
          <a:xfrm rot="0">
            <a:off x="6869064" y="8153903"/>
            <a:ext cx="10390236" cy="1365722"/>
            <a:chOff x="0" y="0"/>
            <a:chExt cx="13853648" cy="1820962"/>
          </a:xfrm>
        </p:grpSpPr>
        <p:grpSp>
          <p:nvGrpSpPr>
            <p:cNvPr name="Group 26" id="26"/>
            <p:cNvGrpSpPr/>
            <p:nvPr/>
          </p:nvGrpSpPr>
          <p:grpSpPr>
            <a:xfrm rot="0">
              <a:off x="0" y="0"/>
              <a:ext cx="1820962" cy="1820962"/>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28" id="28"/>
              <p:cNvSpPr txBox="true"/>
              <p:nvPr/>
            </p:nvSpPr>
            <p:spPr>
              <a:xfrm>
                <a:off x="76200" y="28575"/>
                <a:ext cx="660400" cy="708025"/>
              </a:xfrm>
              <a:prstGeom prst="rect">
                <a:avLst/>
              </a:prstGeom>
            </p:spPr>
            <p:txBody>
              <a:bodyPr anchor="ctr" rtlCol="false" tIns="45824" lIns="45824" bIns="45824" rIns="45824"/>
              <a:lstStyle/>
              <a:p>
                <a:pPr algn="ctr">
                  <a:lnSpc>
                    <a:spcPts val="2659"/>
                  </a:lnSpc>
                </a:pPr>
              </a:p>
            </p:txBody>
          </p:sp>
        </p:grpSp>
        <p:sp>
          <p:nvSpPr>
            <p:cNvPr name="TextBox 29" id="29"/>
            <p:cNvSpPr txBox="true"/>
            <p:nvPr/>
          </p:nvSpPr>
          <p:spPr>
            <a:xfrm rot="0">
              <a:off x="132243" y="354047"/>
              <a:ext cx="1460151" cy="1149780"/>
            </a:xfrm>
            <a:prstGeom prst="rect">
              <a:avLst/>
            </a:prstGeom>
          </p:spPr>
          <p:txBody>
            <a:bodyPr anchor="t" rtlCol="false" tIns="0" lIns="0" bIns="0" rIns="0">
              <a:spAutoFit/>
            </a:bodyPr>
            <a:lstStyle/>
            <a:p>
              <a:pPr algn="ctr">
                <a:lnSpc>
                  <a:spcPts val="7352"/>
                </a:lnSpc>
              </a:pPr>
              <a:r>
                <a:rPr lang="en-US" b="true" sz="5251">
                  <a:solidFill>
                    <a:srgbClr val="000000"/>
                  </a:solidFill>
                  <a:latin typeface="League Spartan"/>
                  <a:ea typeface="League Spartan"/>
                  <a:cs typeface="League Spartan"/>
                  <a:sym typeface="League Spartan"/>
                </a:rPr>
                <a:t>4</a:t>
              </a:r>
            </a:p>
          </p:txBody>
        </p:sp>
        <p:sp>
          <p:nvSpPr>
            <p:cNvPr name="TextBox 30" id="30"/>
            <p:cNvSpPr txBox="true"/>
            <p:nvPr/>
          </p:nvSpPr>
          <p:spPr>
            <a:xfrm rot="0">
              <a:off x="2358535" y="58582"/>
              <a:ext cx="11495114" cy="1603066"/>
            </a:xfrm>
            <a:prstGeom prst="rect">
              <a:avLst/>
            </a:prstGeom>
          </p:spPr>
          <p:txBody>
            <a:bodyPr anchor="t" rtlCol="false" tIns="0" lIns="0" bIns="0" rIns="0">
              <a:spAutoFit/>
            </a:bodyPr>
            <a:lstStyle/>
            <a:p>
              <a:pPr algn="just">
                <a:lnSpc>
                  <a:spcPts val="4869"/>
                </a:lnSpc>
                <a:spcBef>
                  <a:spcPct val="0"/>
                </a:spcBef>
              </a:pPr>
              <a:r>
                <a:rPr lang="en-US" sz="3477">
                  <a:solidFill>
                    <a:srgbClr val="000000"/>
                  </a:solidFill>
                  <a:latin typeface="Poppins"/>
                  <a:ea typeface="Poppins"/>
                  <a:cs typeface="Poppins"/>
                  <a:sym typeface="Poppins"/>
                </a:rPr>
                <a:t>Box model digunakan untuk mengatur jarak antar elemen</a:t>
              </a:r>
            </a:p>
          </p:txBody>
        </p:sp>
      </p:grpSp>
      <p:sp>
        <p:nvSpPr>
          <p:cNvPr name="TextBox 31" id="31"/>
          <p:cNvSpPr txBox="true"/>
          <p:nvPr/>
        </p:nvSpPr>
        <p:spPr>
          <a:xfrm rot="0">
            <a:off x="1708848" y="3247634"/>
            <a:ext cx="4100072" cy="6271990"/>
          </a:xfrm>
          <a:prstGeom prst="rect">
            <a:avLst/>
          </a:prstGeom>
        </p:spPr>
        <p:txBody>
          <a:bodyPr anchor="t" rtlCol="false" tIns="0" lIns="0" bIns="0" rIns="0">
            <a:spAutoFit/>
          </a:bodyPr>
          <a:lstStyle/>
          <a:p>
            <a:pPr algn="r">
              <a:lnSpc>
                <a:spcPts val="5524"/>
              </a:lnSpc>
              <a:spcBef>
                <a:spcPct val="0"/>
              </a:spcBef>
            </a:pPr>
            <a:r>
              <a:rPr lang="en-US" sz="3946">
                <a:solidFill>
                  <a:srgbClr val="E5E5E5"/>
                </a:solidFill>
                <a:latin typeface="Poppins"/>
                <a:ea typeface="Poppins"/>
                <a:cs typeface="Poppins"/>
                <a:sym typeface="Poppins"/>
              </a:rPr>
              <a:t>CSS, positioning, dan layouting tidak hanya teori, tetapi digunakan langsung dalam pembuatan website.</a:t>
            </a:r>
          </a:p>
        </p:txBody>
      </p:sp>
      <p:sp>
        <p:nvSpPr>
          <p:cNvPr name="TextBox 32" id="32"/>
          <p:cNvSpPr txBox="true"/>
          <p:nvPr/>
        </p:nvSpPr>
        <p:spPr>
          <a:xfrm rot="0">
            <a:off x="8318415" y="1435030"/>
            <a:ext cx="5903044" cy="765235"/>
          </a:xfrm>
          <a:prstGeom prst="rect">
            <a:avLst/>
          </a:prstGeom>
        </p:spPr>
        <p:txBody>
          <a:bodyPr anchor="t" rtlCol="false" tIns="0" lIns="0" bIns="0" rIns="0">
            <a:spAutoFit/>
          </a:bodyPr>
          <a:lstStyle/>
          <a:p>
            <a:pPr algn="ctr">
              <a:lnSpc>
                <a:spcPts val="6279"/>
              </a:lnSpc>
              <a:spcBef>
                <a:spcPct val="0"/>
              </a:spcBef>
            </a:pPr>
            <a:r>
              <a:rPr lang="en-US" sz="4485">
                <a:solidFill>
                  <a:srgbClr val="000000"/>
                </a:solidFill>
                <a:latin typeface="Archivo Black"/>
                <a:ea typeface="Archivo Black"/>
                <a:cs typeface="Archivo Black"/>
                <a:sym typeface="Archivo Black"/>
              </a:rPr>
              <a:t>Contoh penerapan:</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0" y="0"/>
            <a:ext cx="6379957" cy="10287000"/>
            <a:chOff x="0" y="0"/>
            <a:chExt cx="1680318" cy="2709333"/>
          </a:xfrm>
        </p:grpSpPr>
        <p:sp>
          <p:nvSpPr>
            <p:cNvPr name="Freeform 4" id="4"/>
            <p:cNvSpPr/>
            <p:nvPr/>
          </p:nvSpPr>
          <p:spPr>
            <a:xfrm flipH="false" flipV="false" rot="0">
              <a:off x="0" y="0"/>
              <a:ext cx="1680318" cy="2709333"/>
            </a:xfrm>
            <a:custGeom>
              <a:avLst/>
              <a:gdLst/>
              <a:ahLst/>
              <a:cxnLst/>
              <a:rect r="r" b="b" t="t" l="l"/>
              <a:pathLst>
                <a:path h="2709333" w="1680318">
                  <a:moveTo>
                    <a:pt x="0" y="0"/>
                  </a:moveTo>
                  <a:lnTo>
                    <a:pt x="1680318" y="0"/>
                  </a:lnTo>
                  <a:lnTo>
                    <a:pt x="1680318" y="2709333"/>
                  </a:lnTo>
                  <a:lnTo>
                    <a:pt x="0" y="2709333"/>
                  </a:lnTo>
                  <a:close/>
                </a:path>
              </a:pathLst>
            </a:custGeom>
            <a:solidFill>
              <a:srgbClr val="004AAD"/>
            </a:solidFill>
          </p:spPr>
        </p:sp>
        <p:sp>
          <p:nvSpPr>
            <p:cNvPr name="TextBox 5" id="5"/>
            <p:cNvSpPr txBox="true"/>
            <p:nvPr/>
          </p:nvSpPr>
          <p:spPr>
            <a:xfrm>
              <a:off x="0" y="-47625"/>
              <a:ext cx="1680318" cy="2756958"/>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0" y="548087"/>
            <a:ext cx="5864681" cy="2440137"/>
          </a:xfrm>
          <a:prstGeom prst="rect">
            <a:avLst/>
          </a:prstGeom>
        </p:spPr>
        <p:txBody>
          <a:bodyPr anchor="t" rtlCol="false" tIns="0" lIns="0" bIns="0" rIns="0">
            <a:spAutoFit/>
          </a:bodyPr>
          <a:lstStyle/>
          <a:p>
            <a:pPr algn="r">
              <a:lnSpc>
                <a:spcPts val="6531"/>
              </a:lnSpc>
            </a:pPr>
            <a:r>
              <a:rPr lang="en-US" b="true" sz="4665">
                <a:solidFill>
                  <a:srgbClr val="FFFFFF"/>
                </a:solidFill>
                <a:latin typeface="League Spartan"/>
                <a:ea typeface="League Spartan"/>
                <a:cs typeface="League Spartan"/>
                <a:sym typeface="League Spartan"/>
              </a:rPr>
              <a:t> BEST PRACTICE PENGGUNAAN CSS</a:t>
            </a:r>
          </a:p>
        </p:txBody>
      </p:sp>
      <p:grpSp>
        <p:nvGrpSpPr>
          <p:cNvPr name="Group 7" id="7"/>
          <p:cNvGrpSpPr/>
          <p:nvPr/>
        </p:nvGrpSpPr>
        <p:grpSpPr>
          <a:xfrm rot="0">
            <a:off x="6869064" y="3499978"/>
            <a:ext cx="9781091" cy="1285654"/>
            <a:chOff x="0" y="0"/>
            <a:chExt cx="13041455" cy="1714205"/>
          </a:xfrm>
        </p:grpSpPr>
        <p:grpSp>
          <p:nvGrpSpPr>
            <p:cNvPr name="Group 8" id="8"/>
            <p:cNvGrpSpPr/>
            <p:nvPr/>
          </p:nvGrpSpPr>
          <p:grpSpPr>
            <a:xfrm rot="0">
              <a:off x="0" y="0"/>
              <a:ext cx="1714205" cy="1714205"/>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10" id="10"/>
              <p:cNvSpPr txBox="true"/>
              <p:nvPr/>
            </p:nvSpPr>
            <p:spPr>
              <a:xfrm>
                <a:off x="76200" y="28575"/>
                <a:ext cx="660400" cy="708025"/>
              </a:xfrm>
              <a:prstGeom prst="rect">
                <a:avLst/>
              </a:prstGeom>
            </p:spPr>
            <p:txBody>
              <a:bodyPr anchor="ctr" rtlCol="false" tIns="45824" lIns="45824" bIns="45824" rIns="45824"/>
              <a:lstStyle/>
              <a:p>
                <a:pPr algn="ctr">
                  <a:lnSpc>
                    <a:spcPts val="2659"/>
                  </a:lnSpc>
                </a:pPr>
              </a:p>
            </p:txBody>
          </p:sp>
        </p:grpSp>
        <p:sp>
          <p:nvSpPr>
            <p:cNvPr name="TextBox 11" id="11"/>
            <p:cNvSpPr txBox="true"/>
            <p:nvPr/>
          </p:nvSpPr>
          <p:spPr>
            <a:xfrm rot="0">
              <a:off x="124490" y="327706"/>
              <a:ext cx="1374547" cy="1087956"/>
            </a:xfrm>
            <a:prstGeom prst="rect">
              <a:avLst/>
            </a:prstGeom>
          </p:spPr>
          <p:txBody>
            <a:bodyPr anchor="t" rtlCol="false" tIns="0" lIns="0" bIns="0" rIns="0">
              <a:spAutoFit/>
            </a:bodyPr>
            <a:lstStyle/>
            <a:p>
              <a:pPr algn="ctr">
                <a:lnSpc>
                  <a:spcPts val="6921"/>
                </a:lnSpc>
              </a:pPr>
              <a:r>
                <a:rPr lang="en-US" b="true" sz="4943">
                  <a:solidFill>
                    <a:srgbClr val="000000"/>
                  </a:solidFill>
                  <a:latin typeface="League Spartan"/>
                  <a:ea typeface="League Spartan"/>
                  <a:cs typeface="League Spartan"/>
                  <a:sym typeface="League Spartan"/>
                </a:rPr>
                <a:t>2</a:t>
              </a:r>
            </a:p>
          </p:txBody>
        </p:sp>
        <p:sp>
          <p:nvSpPr>
            <p:cNvPr name="TextBox 12" id="12"/>
            <p:cNvSpPr txBox="true"/>
            <p:nvPr/>
          </p:nvSpPr>
          <p:spPr>
            <a:xfrm rot="0">
              <a:off x="2220262" y="61669"/>
              <a:ext cx="10821194" cy="1505142"/>
            </a:xfrm>
            <a:prstGeom prst="rect">
              <a:avLst/>
            </a:prstGeom>
          </p:spPr>
          <p:txBody>
            <a:bodyPr anchor="t" rtlCol="false" tIns="0" lIns="0" bIns="0" rIns="0">
              <a:spAutoFit/>
            </a:bodyPr>
            <a:lstStyle/>
            <a:p>
              <a:pPr algn="just">
                <a:lnSpc>
                  <a:spcPts val="4583"/>
                </a:lnSpc>
                <a:spcBef>
                  <a:spcPct val="0"/>
                </a:spcBef>
              </a:pPr>
              <a:r>
                <a:rPr lang="en-US" sz="3273">
                  <a:solidFill>
                    <a:srgbClr val="000000"/>
                  </a:solidFill>
                  <a:latin typeface="Poppins"/>
                  <a:ea typeface="Poppins"/>
                  <a:cs typeface="Poppins"/>
                  <a:sym typeface="Poppins"/>
                </a:rPr>
                <a:t>Gunakan class daripada ID agar lebih fleksibel</a:t>
              </a:r>
            </a:p>
          </p:txBody>
        </p:sp>
      </p:grpSp>
      <p:grpSp>
        <p:nvGrpSpPr>
          <p:cNvPr name="Group 13" id="13"/>
          <p:cNvGrpSpPr/>
          <p:nvPr/>
        </p:nvGrpSpPr>
        <p:grpSpPr>
          <a:xfrm rot="0">
            <a:off x="6869064" y="1815781"/>
            <a:ext cx="9836226" cy="1326330"/>
            <a:chOff x="0" y="0"/>
            <a:chExt cx="13114967" cy="1768440"/>
          </a:xfrm>
        </p:grpSpPr>
        <p:sp>
          <p:nvSpPr>
            <p:cNvPr name="TextBox 14" id="14"/>
            <p:cNvSpPr txBox="true"/>
            <p:nvPr/>
          </p:nvSpPr>
          <p:spPr>
            <a:xfrm rot="0">
              <a:off x="2232777" y="115377"/>
              <a:ext cx="10882190" cy="1522668"/>
            </a:xfrm>
            <a:prstGeom prst="rect">
              <a:avLst/>
            </a:prstGeom>
          </p:spPr>
          <p:txBody>
            <a:bodyPr anchor="t" rtlCol="false" tIns="0" lIns="0" bIns="0" rIns="0">
              <a:spAutoFit/>
            </a:bodyPr>
            <a:lstStyle/>
            <a:p>
              <a:pPr algn="l">
                <a:lnSpc>
                  <a:spcPts val="4609"/>
                </a:lnSpc>
                <a:spcBef>
                  <a:spcPct val="0"/>
                </a:spcBef>
              </a:pPr>
              <a:r>
                <a:rPr lang="en-US" sz="3292">
                  <a:solidFill>
                    <a:srgbClr val="000000"/>
                  </a:solidFill>
                  <a:latin typeface="Poppins"/>
                  <a:ea typeface="Poppins"/>
                  <a:cs typeface="Poppins"/>
                  <a:sym typeface="Poppins"/>
                </a:rPr>
                <a:t>Gunakan External CSS untuk project besar</a:t>
              </a:r>
            </a:p>
          </p:txBody>
        </p:sp>
        <p:grpSp>
          <p:nvGrpSpPr>
            <p:cNvPr name="Group 15" id="15"/>
            <p:cNvGrpSpPr/>
            <p:nvPr/>
          </p:nvGrpSpPr>
          <p:grpSpPr>
            <a:xfrm rot="0">
              <a:off x="0" y="0"/>
              <a:ext cx="1768440" cy="1768440"/>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17" id="17"/>
              <p:cNvSpPr txBox="true"/>
              <p:nvPr/>
            </p:nvSpPr>
            <p:spPr>
              <a:xfrm>
                <a:off x="76200" y="28575"/>
                <a:ext cx="660400" cy="708025"/>
              </a:xfrm>
              <a:prstGeom prst="rect">
                <a:avLst/>
              </a:prstGeom>
            </p:spPr>
            <p:txBody>
              <a:bodyPr anchor="ctr" rtlCol="false" tIns="47009" lIns="47009" bIns="47009" rIns="47009"/>
              <a:lstStyle/>
              <a:p>
                <a:pPr algn="ctr">
                  <a:lnSpc>
                    <a:spcPts val="2660"/>
                  </a:lnSpc>
                </a:pPr>
              </a:p>
            </p:txBody>
          </p:sp>
        </p:grpSp>
        <p:sp>
          <p:nvSpPr>
            <p:cNvPr name="TextBox 18" id="18"/>
            <p:cNvSpPr txBox="true"/>
            <p:nvPr/>
          </p:nvSpPr>
          <p:spPr>
            <a:xfrm rot="0">
              <a:off x="128429" y="331563"/>
              <a:ext cx="1418036" cy="1128889"/>
            </a:xfrm>
            <a:prstGeom prst="rect">
              <a:avLst/>
            </a:prstGeom>
          </p:spPr>
          <p:txBody>
            <a:bodyPr anchor="t" rtlCol="false" tIns="0" lIns="0" bIns="0" rIns="0">
              <a:spAutoFit/>
            </a:bodyPr>
            <a:lstStyle/>
            <a:p>
              <a:pPr algn="ctr">
                <a:lnSpc>
                  <a:spcPts val="7140"/>
                </a:lnSpc>
              </a:pPr>
              <a:r>
                <a:rPr lang="en-US" b="true" sz="5100">
                  <a:solidFill>
                    <a:srgbClr val="000000"/>
                  </a:solidFill>
                  <a:latin typeface="League Spartan"/>
                  <a:ea typeface="League Spartan"/>
                  <a:cs typeface="League Spartan"/>
                  <a:sym typeface="League Spartan"/>
                </a:rPr>
                <a:t>1</a:t>
              </a:r>
            </a:p>
          </p:txBody>
        </p:sp>
      </p:grpSp>
      <p:grpSp>
        <p:nvGrpSpPr>
          <p:cNvPr name="Group 19" id="19"/>
          <p:cNvGrpSpPr/>
          <p:nvPr/>
        </p:nvGrpSpPr>
        <p:grpSpPr>
          <a:xfrm rot="0">
            <a:off x="6869064" y="5143500"/>
            <a:ext cx="10594617" cy="1275248"/>
            <a:chOff x="0" y="0"/>
            <a:chExt cx="14126156" cy="1700331"/>
          </a:xfrm>
        </p:grpSpPr>
        <p:grpSp>
          <p:nvGrpSpPr>
            <p:cNvPr name="Group 20" id="20"/>
            <p:cNvGrpSpPr/>
            <p:nvPr/>
          </p:nvGrpSpPr>
          <p:grpSpPr>
            <a:xfrm rot="0">
              <a:off x="0" y="0"/>
              <a:ext cx="1700331" cy="1700331"/>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22" id="22"/>
              <p:cNvSpPr txBox="true"/>
              <p:nvPr/>
            </p:nvSpPr>
            <p:spPr>
              <a:xfrm>
                <a:off x="76200" y="28575"/>
                <a:ext cx="660400" cy="708025"/>
              </a:xfrm>
              <a:prstGeom prst="rect">
                <a:avLst/>
              </a:prstGeom>
            </p:spPr>
            <p:txBody>
              <a:bodyPr anchor="ctr" rtlCol="false" tIns="42789" lIns="42789" bIns="42789" rIns="42789"/>
              <a:lstStyle/>
              <a:p>
                <a:pPr algn="ctr">
                  <a:lnSpc>
                    <a:spcPts val="2659"/>
                  </a:lnSpc>
                </a:pPr>
              </a:p>
            </p:txBody>
          </p:sp>
        </p:grpSp>
        <p:sp>
          <p:nvSpPr>
            <p:cNvPr name="TextBox 23" id="23"/>
            <p:cNvSpPr txBox="true"/>
            <p:nvPr/>
          </p:nvSpPr>
          <p:spPr>
            <a:xfrm rot="0">
              <a:off x="123483" y="333808"/>
              <a:ext cx="1363422" cy="1070396"/>
            </a:xfrm>
            <a:prstGeom prst="rect">
              <a:avLst/>
            </a:prstGeom>
          </p:spPr>
          <p:txBody>
            <a:bodyPr anchor="t" rtlCol="false" tIns="0" lIns="0" bIns="0" rIns="0">
              <a:spAutoFit/>
            </a:bodyPr>
            <a:lstStyle/>
            <a:p>
              <a:pPr algn="ctr">
                <a:lnSpc>
                  <a:spcPts val="6865"/>
                </a:lnSpc>
              </a:pPr>
              <a:r>
                <a:rPr lang="en-US" b="true" sz="4903">
                  <a:solidFill>
                    <a:srgbClr val="000000"/>
                  </a:solidFill>
                  <a:latin typeface="League Spartan"/>
                  <a:ea typeface="League Spartan"/>
                  <a:cs typeface="League Spartan"/>
                  <a:sym typeface="League Spartan"/>
                </a:rPr>
                <a:t>3</a:t>
              </a:r>
            </a:p>
          </p:txBody>
        </p:sp>
        <p:sp>
          <p:nvSpPr>
            <p:cNvPr name="TextBox 24" id="24"/>
            <p:cNvSpPr txBox="true"/>
            <p:nvPr/>
          </p:nvSpPr>
          <p:spPr>
            <a:xfrm rot="0">
              <a:off x="2202291" y="333808"/>
              <a:ext cx="11923865" cy="734699"/>
            </a:xfrm>
            <a:prstGeom prst="rect">
              <a:avLst/>
            </a:prstGeom>
          </p:spPr>
          <p:txBody>
            <a:bodyPr anchor="t" rtlCol="false" tIns="0" lIns="0" bIns="0" rIns="0">
              <a:spAutoFit/>
            </a:bodyPr>
            <a:lstStyle/>
            <a:p>
              <a:pPr algn="l">
                <a:lnSpc>
                  <a:spcPts val="4546"/>
                </a:lnSpc>
                <a:spcBef>
                  <a:spcPct val="0"/>
                </a:spcBef>
              </a:pPr>
              <a:r>
                <a:rPr lang="en-US" sz="3247">
                  <a:solidFill>
                    <a:srgbClr val="000000"/>
                  </a:solidFill>
                  <a:latin typeface="Poppins"/>
                  <a:ea typeface="Poppins"/>
                  <a:cs typeface="Poppins"/>
                  <a:sym typeface="Poppins"/>
                </a:rPr>
                <a:t>Hindari penggunaan inline CSS berlebihan</a:t>
              </a:r>
            </a:p>
          </p:txBody>
        </p:sp>
      </p:grpSp>
      <p:grpSp>
        <p:nvGrpSpPr>
          <p:cNvPr name="Group 25" id="25"/>
          <p:cNvGrpSpPr/>
          <p:nvPr/>
        </p:nvGrpSpPr>
        <p:grpSpPr>
          <a:xfrm rot="0">
            <a:off x="6924198" y="8404784"/>
            <a:ext cx="9836226" cy="1292901"/>
            <a:chOff x="0" y="0"/>
            <a:chExt cx="13114967" cy="1723868"/>
          </a:xfrm>
        </p:grpSpPr>
        <p:grpSp>
          <p:nvGrpSpPr>
            <p:cNvPr name="Group 26" id="26"/>
            <p:cNvGrpSpPr/>
            <p:nvPr/>
          </p:nvGrpSpPr>
          <p:grpSpPr>
            <a:xfrm rot="0">
              <a:off x="0" y="0"/>
              <a:ext cx="1723868" cy="1723868"/>
              <a:chOff x="0" y="0"/>
              <a:chExt cx="812800" cy="812800"/>
            </a:xfrm>
          </p:grpSpPr>
          <p:sp>
            <p:nvSpPr>
              <p:cNvPr name="Freeform 27" id="2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28" id="28"/>
              <p:cNvSpPr txBox="true"/>
              <p:nvPr/>
            </p:nvSpPr>
            <p:spPr>
              <a:xfrm>
                <a:off x="76200" y="28575"/>
                <a:ext cx="660400" cy="708025"/>
              </a:xfrm>
              <a:prstGeom prst="rect">
                <a:avLst/>
              </a:prstGeom>
            </p:spPr>
            <p:txBody>
              <a:bodyPr anchor="ctr" rtlCol="false" tIns="45824" lIns="45824" bIns="45824" rIns="45824"/>
              <a:lstStyle/>
              <a:p>
                <a:pPr algn="ctr">
                  <a:lnSpc>
                    <a:spcPts val="2659"/>
                  </a:lnSpc>
                </a:pPr>
              </a:p>
            </p:txBody>
          </p:sp>
        </p:grpSp>
        <p:sp>
          <p:nvSpPr>
            <p:cNvPr name="TextBox 29" id="29"/>
            <p:cNvSpPr txBox="true"/>
            <p:nvPr/>
          </p:nvSpPr>
          <p:spPr>
            <a:xfrm rot="0">
              <a:off x="125192" y="330090"/>
              <a:ext cx="1382295" cy="1093552"/>
            </a:xfrm>
            <a:prstGeom prst="rect">
              <a:avLst/>
            </a:prstGeom>
          </p:spPr>
          <p:txBody>
            <a:bodyPr anchor="t" rtlCol="false" tIns="0" lIns="0" bIns="0" rIns="0">
              <a:spAutoFit/>
            </a:bodyPr>
            <a:lstStyle/>
            <a:p>
              <a:pPr algn="ctr">
                <a:lnSpc>
                  <a:spcPts val="6960"/>
                </a:lnSpc>
              </a:pPr>
              <a:r>
                <a:rPr lang="en-US" b="true" sz="4971">
                  <a:solidFill>
                    <a:srgbClr val="000000"/>
                  </a:solidFill>
                  <a:latin typeface="League Spartan"/>
                  <a:ea typeface="League Spartan"/>
                  <a:cs typeface="League Spartan"/>
                  <a:sym typeface="League Spartan"/>
                </a:rPr>
                <a:t>5</a:t>
              </a:r>
            </a:p>
          </p:txBody>
        </p:sp>
        <p:sp>
          <p:nvSpPr>
            <p:cNvPr name="TextBox 30" id="30"/>
            <p:cNvSpPr txBox="true"/>
            <p:nvPr/>
          </p:nvSpPr>
          <p:spPr>
            <a:xfrm rot="0">
              <a:off x="2232777" y="50380"/>
              <a:ext cx="10882190" cy="1522668"/>
            </a:xfrm>
            <a:prstGeom prst="rect">
              <a:avLst/>
            </a:prstGeom>
          </p:spPr>
          <p:txBody>
            <a:bodyPr anchor="t" rtlCol="false" tIns="0" lIns="0" bIns="0" rIns="0">
              <a:spAutoFit/>
            </a:bodyPr>
            <a:lstStyle/>
            <a:p>
              <a:pPr algn="just">
                <a:lnSpc>
                  <a:spcPts val="4609"/>
                </a:lnSpc>
                <a:spcBef>
                  <a:spcPct val="0"/>
                </a:spcBef>
              </a:pPr>
              <a:r>
                <a:rPr lang="en-US" sz="3292">
                  <a:solidFill>
                    <a:srgbClr val="000000"/>
                  </a:solidFill>
                  <a:latin typeface="Poppins"/>
                  <a:ea typeface="Poppins"/>
                  <a:cs typeface="Poppins"/>
                  <a:sym typeface="Poppins"/>
                </a:rPr>
                <a:t>Susun file CSS secara terstruktur (folder, penamaan jelas)</a:t>
              </a:r>
            </a:p>
          </p:txBody>
        </p:sp>
      </p:grpSp>
      <p:sp>
        <p:nvSpPr>
          <p:cNvPr name="TextBox 31" id="31"/>
          <p:cNvSpPr txBox="true"/>
          <p:nvPr/>
        </p:nvSpPr>
        <p:spPr>
          <a:xfrm rot="0">
            <a:off x="1028700" y="3574441"/>
            <a:ext cx="4695201" cy="6271990"/>
          </a:xfrm>
          <a:prstGeom prst="rect">
            <a:avLst/>
          </a:prstGeom>
        </p:spPr>
        <p:txBody>
          <a:bodyPr anchor="t" rtlCol="false" tIns="0" lIns="0" bIns="0" rIns="0">
            <a:spAutoFit/>
          </a:bodyPr>
          <a:lstStyle/>
          <a:p>
            <a:pPr algn="r">
              <a:lnSpc>
                <a:spcPts val="5524"/>
              </a:lnSpc>
              <a:spcBef>
                <a:spcPct val="0"/>
              </a:spcBef>
            </a:pPr>
            <a:r>
              <a:rPr lang="en-US" sz="3946">
                <a:solidFill>
                  <a:srgbClr val="E5E5E5"/>
                </a:solidFill>
                <a:latin typeface="Poppins"/>
                <a:ea typeface="Poppins"/>
                <a:cs typeface="Poppins"/>
                <a:sym typeface="Poppins"/>
              </a:rPr>
              <a:t>Dalam pengembangan web, penggunaan CSS tidak hanya benar, tapi juga harus rapi dan efisien agar mudah dikembangkan.</a:t>
            </a:r>
          </a:p>
        </p:txBody>
      </p:sp>
      <p:sp>
        <p:nvSpPr>
          <p:cNvPr name="TextBox 32" id="32"/>
          <p:cNvSpPr txBox="true"/>
          <p:nvPr/>
        </p:nvSpPr>
        <p:spPr>
          <a:xfrm rot="0">
            <a:off x="6924198" y="603220"/>
            <a:ext cx="4439605" cy="765235"/>
          </a:xfrm>
          <a:prstGeom prst="rect">
            <a:avLst/>
          </a:prstGeom>
        </p:spPr>
        <p:txBody>
          <a:bodyPr anchor="t" rtlCol="false" tIns="0" lIns="0" bIns="0" rIns="0">
            <a:spAutoFit/>
          </a:bodyPr>
          <a:lstStyle/>
          <a:p>
            <a:pPr algn="ctr">
              <a:lnSpc>
                <a:spcPts val="6279"/>
              </a:lnSpc>
              <a:spcBef>
                <a:spcPct val="0"/>
              </a:spcBef>
            </a:pPr>
            <a:r>
              <a:rPr lang="en-US" sz="4485">
                <a:solidFill>
                  <a:srgbClr val="000000"/>
                </a:solidFill>
                <a:latin typeface="Archivo Black"/>
                <a:ea typeface="Archivo Black"/>
                <a:cs typeface="Archivo Black"/>
                <a:sym typeface="Archivo Black"/>
              </a:rPr>
              <a:t>Bes</a:t>
            </a:r>
            <a:r>
              <a:rPr lang="en-US" sz="4485">
                <a:solidFill>
                  <a:srgbClr val="000000"/>
                </a:solidFill>
                <a:latin typeface="Archivo Black"/>
                <a:ea typeface="Archivo Black"/>
                <a:cs typeface="Archivo Black"/>
                <a:sym typeface="Archivo Black"/>
              </a:rPr>
              <a:t>t Practice:</a:t>
            </a:r>
          </a:p>
        </p:txBody>
      </p:sp>
      <p:grpSp>
        <p:nvGrpSpPr>
          <p:cNvPr name="Group 33" id="33"/>
          <p:cNvGrpSpPr/>
          <p:nvPr/>
        </p:nvGrpSpPr>
        <p:grpSpPr>
          <a:xfrm rot="0">
            <a:off x="6869064" y="6767586"/>
            <a:ext cx="9701923" cy="1275248"/>
            <a:chOff x="0" y="0"/>
            <a:chExt cx="12935898" cy="1700331"/>
          </a:xfrm>
        </p:grpSpPr>
        <p:grpSp>
          <p:nvGrpSpPr>
            <p:cNvPr name="Group 34" id="34"/>
            <p:cNvGrpSpPr/>
            <p:nvPr/>
          </p:nvGrpSpPr>
          <p:grpSpPr>
            <a:xfrm rot="0">
              <a:off x="0" y="0"/>
              <a:ext cx="1700331" cy="1700331"/>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5E5E5"/>
              </a:solidFill>
            </p:spPr>
          </p:sp>
          <p:sp>
            <p:nvSpPr>
              <p:cNvPr name="TextBox 36" id="36"/>
              <p:cNvSpPr txBox="true"/>
              <p:nvPr/>
            </p:nvSpPr>
            <p:spPr>
              <a:xfrm>
                <a:off x="76200" y="28575"/>
                <a:ext cx="660400" cy="708025"/>
              </a:xfrm>
              <a:prstGeom prst="rect">
                <a:avLst/>
              </a:prstGeom>
            </p:spPr>
            <p:txBody>
              <a:bodyPr anchor="ctr" rtlCol="false" tIns="45824" lIns="45824" bIns="45824" rIns="45824"/>
              <a:lstStyle/>
              <a:p>
                <a:pPr algn="ctr">
                  <a:lnSpc>
                    <a:spcPts val="2659"/>
                  </a:lnSpc>
                </a:pPr>
              </a:p>
            </p:txBody>
          </p:sp>
        </p:grpSp>
        <p:sp>
          <p:nvSpPr>
            <p:cNvPr name="TextBox 37" id="37"/>
            <p:cNvSpPr txBox="true"/>
            <p:nvPr/>
          </p:nvSpPr>
          <p:spPr>
            <a:xfrm rot="0">
              <a:off x="123483" y="333808"/>
              <a:ext cx="1363422" cy="1070396"/>
            </a:xfrm>
            <a:prstGeom prst="rect">
              <a:avLst/>
            </a:prstGeom>
          </p:spPr>
          <p:txBody>
            <a:bodyPr anchor="t" rtlCol="false" tIns="0" lIns="0" bIns="0" rIns="0">
              <a:spAutoFit/>
            </a:bodyPr>
            <a:lstStyle/>
            <a:p>
              <a:pPr algn="ctr">
                <a:lnSpc>
                  <a:spcPts val="6865"/>
                </a:lnSpc>
              </a:pPr>
              <a:r>
                <a:rPr lang="en-US" b="true" sz="4903">
                  <a:solidFill>
                    <a:srgbClr val="000000"/>
                  </a:solidFill>
                  <a:latin typeface="League Spartan"/>
                  <a:ea typeface="League Spartan"/>
                  <a:cs typeface="League Spartan"/>
                  <a:sym typeface="League Spartan"/>
                </a:rPr>
                <a:t>4</a:t>
              </a:r>
            </a:p>
          </p:txBody>
        </p:sp>
        <p:sp>
          <p:nvSpPr>
            <p:cNvPr name="TextBox 38" id="38"/>
            <p:cNvSpPr txBox="true"/>
            <p:nvPr/>
          </p:nvSpPr>
          <p:spPr>
            <a:xfrm rot="0">
              <a:off x="2202291" y="57916"/>
              <a:ext cx="10733607" cy="1493654"/>
            </a:xfrm>
            <a:prstGeom prst="rect">
              <a:avLst/>
            </a:prstGeom>
          </p:spPr>
          <p:txBody>
            <a:bodyPr anchor="t" rtlCol="false" tIns="0" lIns="0" bIns="0" rIns="0">
              <a:spAutoFit/>
            </a:bodyPr>
            <a:lstStyle/>
            <a:p>
              <a:pPr algn="just">
                <a:lnSpc>
                  <a:spcPts val="4546"/>
                </a:lnSpc>
                <a:spcBef>
                  <a:spcPct val="0"/>
                </a:spcBef>
              </a:pPr>
              <a:r>
                <a:rPr lang="en-US" sz="3247">
                  <a:solidFill>
                    <a:srgbClr val="000000"/>
                  </a:solidFill>
                  <a:latin typeface="Poppins"/>
                  <a:ea typeface="Poppins"/>
                  <a:cs typeface="Poppins"/>
                  <a:sym typeface="Poppins"/>
                </a:rPr>
                <a:t>Gunakan Flexbox atau Grid untuk layout modern</a:t>
              </a:r>
            </a:p>
          </p:txBody>
        </p:sp>
      </p:gr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648896" y="2471790"/>
            <a:ext cx="16990209" cy="7000452"/>
            <a:chOff x="0" y="0"/>
            <a:chExt cx="4474787" cy="1843740"/>
          </a:xfrm>
        </p:grpSpPr>
        <p:sp>
          <p:nvSpPr>
            <p:cNvPr name="Freeform 4" id="4"/>
            <p:cNvSpPr/>
            <p:nvPr/>
          </p:nvSpPr>
          <p:spPr>
            <a:xfrm flipH="false" flipV="false" rot="0">
              <a:off x="0" y="0"/>
              <a:ext cx="4474787" cy="1843740"/>
            </a:xfrm>
            <a:custGeom>
              <a:avLst/>
              <a:gdLst/>
              <a:ahLst/>
              <a:cxnLst/>
              <a:rect r="r" b="b" t="t" l="l"/>
              <a:pathLst>
                <a:path h="1843740" w="4474787">
                  <a:moveTo>
                    <a:pt x="23239" y="0"/>
                  </a:moveTo>
                  <a:lnTo>
                    <a:pt x="4451548" y="0"/>
                  </a:lnTo>
                  <a:cubicBezTo>
                    <a:pt x="4464383" y="0"/>
                    <a:pt x="4474787" y="10405"/>
                    <a:pt x="4474787" y="23239"/>
                  </a:cubicBezTo>
                  <a:lnTo>
                    <a:pt x="4474787" y="1820501"/>
                  </a:lnTo>
                  <a:cubicBezTo>
                    <a:pt x="4474787" y="1826665"/>
                    <a:pt x="4472339" y="1832576"/>
                    <a:pt x="4467981" y="1836934"/>
                  </a:cubicBezTo>
                  <a:cubicBezTo>
                    <a:pt x="4463623" y="1841292"/>
                    <a:pt x="4457712" y="1843740"/>
                    <a:pt x="4451548" y="1843740"/>
                  </a:cubicBezTo>
                  <a:lnTo>
                    <a:pt x="23239" y="1843740"/>
                  </a:lnTo>
                  <a:cubicBezTo>
                    <a:pt x="17076" y="1843740"/>
                    <a:pt x="11165" y="1841292"/>
                    <a:pt x="6807" y="1836934"/>
                  </a:cubicBezTo>
                  <a:cubicBezTo>
                    <a:pt x="2448" y="1832576"/>
                    <a:pt x="0" y="1826665"/>
                    <a:pt x="0" y="1820501"/>
                  </a:cubicBezTo>
                  <a:lnTo>
                    <a:pt x="0" y="23239"/>
                  </a:lnTo>
                  <a:cubicBezTo>
                    <a:pt x="0" y="17076"/>
                    <a:pt x="2448" y="11165"/>
                    <a:pt x="6807" y="6807"/>
                  </a:cubicBezTo>
                  <a:cubicBezTo>
                    <a:pt x="11165" y="2448"/>
                    <a:pt x="17076" y="0"/>
                    <a:pt x="23239" y="0"/>
                  </a:cubicBezTo>
                  <a:close/>
                </a:path>
              </a:pathLst>
            </a:custGeom>
            <a:solidFill>
              <a:srgbClr val="004AAD"/>
            </a:solidFill>
          </p:spPr>
        </p:sp>
        <p:sp>
          <p:nvSpPr>
            <p:cNvPr name="TextBox 5" id="5"/>
            <p:cNvSpPr txBox="true"/>
            <p:nvPr/>
          </p:nvSpPr>
          <p:spPr>
            <a:xfrm>
              <a:off x="0" y="-47625"/>
              <a:ext cx="4474787" cy="1891365"/>
            </a:xfrm>
            <a:prstGeom prst="rect">
              <a:avLst/>
            </a:prstGeom>
          </p:spPr>
          <p:txBody>
            <a:bodyPr anchor="ctr" rtlCol="false" tIns="50800" lIns="50800" bIns="50800" rIns="50800"/>
            <a:lstStyle/>
            <a:p>
              <a:pPr algn="ctr">
                <a:lnSpc>
                  <a:spcPts val="2659"/>
                </a:lnSpc>
              </a:pPr>
            </a:p>
          </p:txBody>
        </p:sp>
      </p:grpSp>
      <p:sp>
        <p:nvSpPr>
          <p:cNvPr name="TextBox 6" id="6"/>
          <p:cNvSpPr txBox="true"/>
          <p:nvPr/>
        </p:nvSpPr>
        <p:spPr>
          <a:xfrm rot="0">
            <a:off x="4731616" y="598988"/>
            <a:ext cx="8824768" cy="1236184"/>
          </a:xfrm>
          <a:prstGeom prst="rect">
            <a:avLst/>
          </a:prstGeom>
        </p:spPr>
        <p:txBody>
          <a:bodyPr anchor="t" rtlCol="false" tIns="0" lIns="0" bIns="0" rIns="0">
            <a:spAutoFit/>
          </a:bodyPr>
          <a:lstStyle/>
          <a:p>
            <a:pPr algn="ctr">
              <a:lnSpc>
                <a:spcPts val="10153"/>
              </a:lnSpc>
            </a:pPr>
            <a:r>
              <a:rPr lang="en-US" sz="7252">
                <a:solidFill>
                  <a:srgbClr val="004AAD"/>
                </a:solidFill>
                <a:latin typeface="League Spartan"/>
                <a:ea typeface="League Spartan"/>
                <a:cs typeface="League Spartan"/>
                <a:sym typeface="League Spartan"/>
              </a:rPr>
              <a:t>KESIMPULAN</a:t>
            </a:r>
          </a:p>
        </p:txBody>
      </p:sp>
      <p:sp>
        <p:nvSpPr>
          <p:cNvPr name="TextBox 7" id="7"/>
          <p:cNvSpPr txBox="true"/>
          <p:nvPr/>
        </p:nvSpPr>
        <p:spPr>
          <a:xfrm rot="0">
            <a:off x="1297791" y="2825260"/>
            <a:ext cx="15692417" cy="6179211"/>
          </a:xfrm>
          <a:prstGeom prst="rect">
            <a:avLst/>
          </a:prstGeom>
        </p:spPr>
        <p:txBody>
          <a:bodyPr anchor="t" rtlCol="false" tIns="0" lIns="0" bIns="0" rIns="0">
            <a:spAutoFit/>
          </a:bodyPr>
          <a:lstStyle/>
          <a:p>
            <a:pPr algn="ctr">
              <a:lnSpc>
                <a:spcPts val="5429"/>
              </a:lnSpc>
            </a:pPr>
            <a:r>
              <a:rPr lang="en-US" sz="3878">
                <a:solidFill>
                  <a:srgbClr val="E5E5E5"/>
                </a:solidFill>
                <a:latin typeface="Poppins"/>
                <a:ea typeface="Poppins"/>
                <a:cs typeface="Poppins"/>
                <a:sym typeface="Poppins"/>
              </a:rPr>
              <a:t>CSS, positioning, dan layouting merupakan dasar pent</a:t>
            </a:r>
            <a:r>
              <a:rPr lang="en-US" sz="3878">
                <a:solidFill>
                  <a:srgbClr val="E5E5E5"/>
                </a:solidFill>
                <a:latin typeface="Poppins"/>
                <a:ea typeface="Poppins"/>
                <a:cs typeface="Poppins"/>
                <a:sym typeface="Poppins"/>
              </a:rPr>
              <a:t>ing dalam pengembangan website. CSS digunakan untuk mengatur tampilan agar lebih menarik, positioning untuk mengatur letak elemen secara tepat, dan layouting untuk menyusun struktur halaman agar rapi dan mudah dipahami.</a:t>
            </a:r>
          </a:p>
          <a:p>
            <a:pPr algn="ctr">
              <a:lnSpc>
                <a:spcPts val="5429"/>
              </a:lnSpc>
              <a:spcBef>
                <a:spcPct val="0"/>
              </a:spcBef>
            </a:pPr>
            <a:r>
              <a:rPr lang="en-US" sz="3878">
                <a:solidFill>
                  <a:srgbClr val="E5E5E5"/>
                </a:solidFill>
                <a:latin typeface="Poppins"/>
                <a:ea typeface="Poppins"/>
                <a:cs typeface="Poppins"/>
                <a:sym typeface="Poppins"/>
              </a:rPr>
              <a:t>Dengan menggabungkan ketiganya, website tidak hanya berfungsi dengan baik, tetapi juga terlihat lebih profesional, terstruktur, dan nyaman digunakan oleh pengguna di berbagai perangkat.</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702328" y="3895725"/>
            <a:ext cx="5245100" cy="1332778"/>
            <a:chOff x="0" y="0"/>
            <a:chExt cx="1381426" cy="351020"/>
          </a:xfrm>
        </p:grpSpPr>
        <p:sp>
          <p:nvSpPr>
            <p:cNvPr name="Freeform 4" id="4"/>
            <p:cNvSpPr/>
            <p:nvPr/>
          </p:nvSpPr>
          <p:spPr>
            <a:xfrm flipH="false" flipV="false" rot="0">
              <a:off x="0" y="0"/>
              <a:ext cx="1381426" cy="351020"/>
            </a:xfrm>
            <a:custGeom>
              <a:avLst/>
              <a:gdLst/>
              <a:ahLst/>
              <a:cxnLst/>
              <a:rect r="r" b="b" t="t" l="l"/>
              <a:pathLst>
                <a:path h="351020" w="1381426">
                  <a:moveTo>
                    <a:pt x="75277" y="0"/>
                  </a:moveTo>
                  <a:lnTo>
                    <a:pt x="1306148" y="0"/>
                  </a:lnTo>
                  <a:cubicBezTo>
                    <a:pt x="1326113" y="0"/>
                    <a:pt x="1345260" y="7931"/>
                    <a:pt x="1359377" y="22048"/>
                  </a:cubicBezTo>
                  <a:cubicBezTo>
                    <a:pt x="1373495" y="36166"/>
                    <a:pt x="1381426" y="55313"/>
                    <a:pt x="1381426" y="75277"/>
                  </a:cubicBezTo>
                  <a:lnTo>
                    <a:pt x="1381426" y="275742"/>
                  </a:lnTo>
                  <a:cubicBezTo>
                    <a:pt x="1381426" y="295707"/>
                    <a:pt x="1373495" y="314854"/>
                    <a:pt x="1359377" y="328971"/>
                  </a:cubicBezTo>
                  <a:cubicBezTo>
                    <a:pt x="1345260" y="343089"/>
                    <a:pt x="1326113" y="351020"/>
                    <a:pt x="1306148" y="351020"/>
                  </a:cubicBezTo>
                  <a:lnTo>
                    <a:pt x="75277" y="351020"/>
                  </a:lnTo>
                  <a:cubicBezTo>
                    <a:pt x="55313" y="351020"/>
                    <a:pt x="36166" y="343089"/>
                    <a:pt x="22048" y="328971"/>
                  </a:cubicBezTo>
                  <a:cubicBezTo>
                    <a:pt x="7931" y="314854"/>
                    <a:pt x="0" y="295707"/>
                    <a:pt x="0" y="275742"/>
                  </a:cubicBezTo>
                  <a:lnTo>
                    <a:pt x="0" y="75277"/>
                  </a:lnTo>
                  <a:cubicBezTo>
                    <a:pt x="0" y="55313"/>
                    <a:pt x="7931" y="36166"/>
                    <a:pt x="22048" y="22048"/>
                  </a:cubicBezTo>
                  <a:cubicBezTo>
                    <a:pt x="36166" y="7931"/>
                    <a:pt x="55313" y="0"/>
                    <a:pt x="75277" y="0"/>
                  </a:cubicBezTo>
                  <a:close/>
                </a:path>
              </a:pathLst>
            </a:custGeom>
            <a:solidFill>
              <a:srgbClr val="004AAD"/>
            </a:solidFill>
          </p:spPr>
        </p:sp>
        <p:sp>
          <p:nvSpPr>
            <p:cNvPr name="TextBox 5" id="5"/>
            <p:cNvSpPr txBox="true"/>
            <p:nvPr/>
          </p:nvSpPr>
          <p:spPr>
            <a:xfrm>
              <a:off x="0" y="-47625"/>
              <a:ext cx="1381426" cy="39864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0">
            <a:off x="13745228" y="4000861"/>
            <a:ext cx="5118100" cy="1332778"/>
            <a:chOff x="0" y="0"/>
            <a:chExt cx="1347977" cy="351020"/>
          </a:xfrm>
        </p:grpSpPr>
        <p:sp>
          <p:nvSpPr>
            <p:cNvPr name="Freeform 7" id="7"/>
            <p:cNvSpPr/>
            <p:nvPr/>
          </p:nvSpPr>
          <p:spPr>
            <a:xfrm flipH="false" flipV="false" rot="0">
              <a:off x="0" y="0"/>
              <a:ext cx="1347977" cy="351020"/>
            </a:xfrm>
            <a:custGeom>
              <a:avLst/>
              <a:gdLst/>
              <a:ahLst/>
              <a:cxnLst/>
              <a:rect r="r" b="b" t="t" l="l"/>
              <a:pathLst>
                <a:path h="351020" w="1347977">
                  <a:moveTo>
                    <a:pt x="77145" y="0"/>
                  </a:moveTo>
                  <a:lnTo>
                    <a:pt x="1270832" y="0"/>
                  </a:lnTo>
                  <a:cubicBezTo>
                    <a:pt x="1291292" y="0"/>
                    <a:pt x="1310914" y="8128"/>
                    <a:pt x="1325382" y="22595"/>
                  </a:cubicBezTo>
                  <a:cubicBezTo>
                    <a:pt x="1339849" y="37063"/>
                    <a:pt x="1347977" y="56685"/>
                    <a:pt x="1347977" y="77145"/>
                  </a:cubicBezTo>
                  <a:lnTo>
                    <a:pt x="1347977" y="273874"/>
                  </a:lnTo>
                  <a:cubicBezTo>
                    <a:pt x="1347977" y="316480"/>
                    <a:pt x="1313438" y="351020"/>
                    <a:pt x="1270832" y="351020"/>
                  </a:cubicBezTo>
                  <a:lnTo>
                    <a:pt x="77145" y="351020"/>
                  </a:lnTo>
                  <a:cubicBezTo>
                    <a:pt x="34539" y="351020"/>
                    <a:pt x="0" y="316480"/>
                    <a:pt x="0" y="273874"/>
                  </a:cubicBezTo>
                  <a:lnTo>
                    <a:pt x="0" y="77145"/>
                  </a:lnTo>
                  <a:cubicBezTo>
                    <a:pt x="0" y="34539"/>
                    <a:pt x="34539" y="0"/>
                    <a:pt x="77145" y="0"/>
                  </a:cubicBezTo>
                  <a:close/>
                </a:path>
              </a:pathLst>
            </a:custGeom>
            <a:solidFill>
              <a:srgbClr val="004AAD"/>
            </a:solidFill>
          </p:spPr>
        </p:sp>
        <p:sp>
          <p:nvSpPr>
            <p:cNvPr name="TextBox 8" id="8"/>
            <p:cNvSpPr txBox="true"/>
            <p:nvPr/>
          </p:nvSpPr>
          <p:spPr>
            <a:xfrm>
              <a:off x="0" y="-47625"/>
              <a:ext cx="1347977" cy="398645"/>
            </a:xfrm>
            <a:prstGeom prst="rect">
              <a:avLst/>
            </a:prstGeom>
          </p:spPr>
          <p:txBody>
            <a:bodyPr anchor="ctr" rtlCol="false" tIns="50800" lIns="50800" bIns="50800" rIns="50800"/>
            <a:lstStyle/>
            <a:p>
              <a:pPr algn="ctr">
                <a:lnSpc>
                  <a:spcPts val="2659"/>
                </a:lnSpc>
              </a:pPr>
            </a:p>
          </p:txBody>
        </p:sp>
      </p:grpSp>
      <p:sp>
        <p:nvSpPr>
          <p:cNvPr name="TextBox 9" id="9"/>
          <p:cNvSpPr txBox="true"/>
          <p:nvPr/>
        </p:nvSpPr>
        <p:spPr>
          <a:xfrm rot="0">
            <a:off x="4542772" y="3929686"/>
            <a:ext cx="9318098" cy="1403953"/>
          </a:xfrm>
          <a:prstGeom prst="rect">
            <a:avLst/>
          </a:prstGeom>
        </p:spPr>
        <p:txBody>
          <a:bodyPr anchor="t" rtlCol="false" tIns="0" lIns="0" bIns="0" rIns="0">
            <a:spAutoFit/>
          </a:bodyPr>
          <a:lstStyle/>
          <a:p>
            <a:pPr algn="ctr">
              <a:lnSpc>
                <a:spcPts val="11435"/>
              </a:lnSpc>
            </a:pPr>
            <a:r>
              <a:rPr lang="en-US" b="true" sz="8168">
                <a:solidFill>
                  <a:srgbClr val="004AAD"/>
                </a:solidFill>
                <a:latin typeface="League Spartan"/>
                <a:ea typeface="League Spartan"/>
                <a:cs typeface="League Spartan"/>
                <a:sym typeface="League Spartan"/>
              </a:rPr>
              <a:t>THANK YOU</a:t>
            </a:r>
          </a:p>
        </p:txBody>
      </p:sp>
      <p:grpSp>
        <p:nvGrpSpPr>
          <p:cNvPr name="Group 10" id="10"/>
          <p:cNvGrpSpPr/>
          <p:nvPr/>
        </p:nvGrpSpPr>
        <p:grpSpPr>
          <a:xfrm rot="0">
            <a:off x="4735069" y="6584965"/>
            <a:ext cx="9010159" cy="1205741"/>
            <a:chOff x="0" y="0"/>
            <a:chExt cx="12013545" cy="1607655"/>
          </a:xfrm>
        </p:grpSpPr>
        <p:grpSp>
          <p:nvGrpSpPr>
            <p:cNvPr name="Group 11" id="11"/>
            <p:cNvGrpSpPr/>
            <p:nvPr/>
          </p:nvGrpSpPr>
          <p:grpSpPr>
            <a:xfrm rot="0">
              <a:off x="0" y="0"/>
              <a:ext cx="12013545" cy="1607655"/>
              <a:chOff x="0" y="0"/>
              <a:chExt cx="2373046" cy="317561"/>
            </a:xfrm>
          </p:grpSpPr>
          <p:sp>
            <p:nvSpPr>
              <p:cNvPr name="Freeform 12" id="12"/>
              <p:cNvSpPr/>
              <p:nvPr/>
            </p:nvSpPr>
            <p:spPr>
              <a:xfrm flipH="false" flipV="false" rot="0">
                <a:off x="0" y="0"/>
                <a:ext cx="2373046" cy="317561"/>
              </a:xfrm>
              <a:custGeom>
                <a:avLst/>
                <a:gdLst/>
                <a:ahLst/>
                <a:cxnLst/>
                <a:rect r="r" b="b" t="t" l="l"/>
                <a:pathLst>
                  <a:path h="317561" w="2373046">
                    <a:moveTo>
                      <a:pt x="43821" y="0"/>
                    </a:moveTo>
                    <a:lnTo>
                      <a:pt x="2329225" y="0"/>
                    </a:lnTo>
                    <a:cubicBezTo>
                      <a:pt x="2340847" y="0"/>
                      <a:pt x="2351993" y="4617"/>
                      <a:pt x="2360211" y="12835"/>
                    </a:cubicBezTo>
                    <a:cubicBezTo>
                      <a:pt x="2368429" y="21053"/>
                      <a:pt x="2373046" y="32199"/>
                      <a:pt x="2373046" y="43821"/>
                    </a:cubicBezTo>
                    <a:lnTo>
                      <a:pt x="2373046" y="273740"/>
                    </a:lnTo>
                    <a:cubicBezTo>
                      <a:pt x="2373046" y="297942"/>
                      <a:pt x="2353427" y="317561"/>
                      <a:pt x="2329225" y="317561"/>
                    </a:cubicBezTo>
                    <a:lnTo>
                      <a:pt x="43821" y="317561"/>
                    </a:lnTo>
                    <a:cubicBezTo>
                      <a:pt x="32199" y="317561"/>
                      <a:pt x="21053" y="312945"/>
                      <a:pt x="12835" y="304726"/>
                    </a:cubicBezTo>
                    <a:cubicBezTo>
                      <a:pt x="4617" y="296508"/>
                      <a:pt x="0" y="285362"/>
                      <a:pt x="0" y="273740"/>
                    </a:cubicBezTo>
                    <a:lnTo>
                      <a:pt x="0" y="43821"/>
                    </a:lnTo>
                    <a:cubicBezTo>
                      <a:pt x="0" y="19620"/>
                      <a:pt x="19620" y="0"/>
                      <a:pt x="43821" y="0"/>
                    </a:cubicBezTo>
                    <a:close/>
                  </a:path>
                </a:pathLst>
              </a:custGeom>
              <a:solidFill>
                <a:srgbClr val="004AAD"/>
              </a:solidFill>
            </p:spPr>
          </p:sp>
          <p:sp>
            <p:nvSpPr>
              <p:cNvPr name="TextBox 13" id="13"/>
              <p:cNvSpPr txBox="true"/>
              <p:nvPr/>
            </p:nvSpPr>
            <p:spPr>
              <a:xfrm>
                <a:off x="0" y="-47625"/>
                <a:ext cx="2373046" cy="365186"/>
              </a:xfrm>
              <a:prstGeom prst="rect">
                <a:avLst/>
              </a:prstGeom>
            </p:spPr>
            <p:txBody>
              <a:bodyPr anchor="ctr" rtlCol="false" tIns="50800" lIns="50800" bIns="50800" rIns="50800"/>
              <a:lstStyle/>
              <a:p>
                <a:pPr algn="ctr">
                  <a:lnSpc>
                    <a:spcPts val="2659"/>
                  </a:lnSpc>
                </a:pPr>
              </a:p>
            </p:txBody>
          </p:sp>
        </p:grpSp>
        <p:sp>
          <p:nvSpPr>
            <p:cNvPr name="TextBox 14" id="14"/>
            <p:cNvSpPr txBox="true"/>
            <p:nvPr/>
          </p:nvSpPr>
          <p:spPr>
            <a:xfrm rot="0">
              <a:off x="1005903" y="427457"/>
              <a:ext cx="10001740" cy="695592"/>
            </a:xfrm>
            <a:prstGeom prst="rect">
              <a:avLst/>
            </a:prstGeom>
          </p:spPr>
          <p:txBody>
            <a:bodyPr anchor="t" rtlCol="false" tIns="0" lIns="0" bIns="0" rIns="0">
              <a:spAutoFit/>
            </a:bodyPr>
            <a:lstStyle/>
            <a:p>
              <a:pPr algn="ctr">
                <a:lnSpc>
                  <a:spcPts val="4408"/>
                </a:lnSpc>
              </a:pPr>
              <a:r>
                <a:rPr lang="en-US" sz="3148">
                  <a:solidFill>
                    <a:srgbClr val="FFFFFF"/>
                  </a:solidFill>
                  <a:latin typeface="League Spartan"/>
                  <a:ea typeface="League Spartan"/>
                  <a:cs typeface="League Spartan"/>
                  <a:sym typeface="League Spartan"/>
                </a:rPr>
                <a:t>PEMROGRAMAN BERBASIS WEB</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DAHIQSmHkIQ</dc:identifier>
  <dcterms:modified xsi:type="dcterms:W3CDTF">2011-08-01T06:04:30Z</dcterms:modified>
  <cp:revision>1</cp:revision>
  <dc:title>Blue &amp; white company profile presentation</dc:title>
</cp:coreProperties>
</file>